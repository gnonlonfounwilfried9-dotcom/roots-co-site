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376" r:id="rId3"/>
    <p:sldId id="261" r:id="rId4"/>
    <p:sldId id="378" r:id="rId5"/>
    <p:sldId id="397" r:id="rId6"/>
    <p:sldId id="379" r:id="rId7"/>
    <p:sldId id="380" r:id="rId8"/>
    <p:sldId id="381" r:id="rId9"/>
    <p:sldId id="382" r:id="rId10"/>
    <p:sldId id="383" r:id="rId11"/>
    <p:sldId id="377" r:id="rId12"/>
    <p:sldId id="388" r:id="rId13"/>
    <p:sldId id="396" r:id="rId14"/>
    <p:sldId id="395" r:id="rId15"/>
    <p:sldId id="375" r:id="rId16"/>
    <p:sldId id="392" r:id="rId17"/>
    <p:sldId id="393" r:id="rId18"/>
    <p:sldId id="391" r:id="rId19"/>
    <p:sldId id="373" r:id="rId20"/>
    <p:sldId id="390" r:id="rId21"/>
    <p:sldId id="394" r:id="rId22"/>
    <p:sldId id="374" r:id="rId23"/>
    <p:sldId id="364" r:id="rId24"/>
    <p:sldId id="257" r:id="rId25"/>
    <p:sldId id="370" r:id="rId26"/>
    <p:sldId id="259" r:id="rId27"/>
    <p:sldId id="385" r:id="rId28"/>
    <p:sldId id="386" r:id="rId29"/>
    <p:sldId id="365" r:id="rId30"/>
    <p:sldId id="372" r:id="rId31"/>
    <p:sldId id="367" r:id="rId32"/>
    <p:sldId id="371" r:id="rId33"/>
    <p:sldId id="361" r:id="rId34"/>
    <p:sldId id="389" r:id="rId35"/>
    <p:sldId id="355" r:id="rId36"/>
  </p:sldIdLst>
  <p:sldSz cx="12192000" cy="6858000"/>
  <p:notesSz cx="6797675" cy="9874250"/>
  <p:embeddedFontLst>
    <p:embeddedFont>
      <p:font typeface="Garamond" panose="02020404030301010803" pitchFamily="18" charset="0"/>
      <p:regular r:id="rId38"/>
      <p:bold r:id="rId39"/>
      <p:italic r:id="rId40"/>
    </p:embeddedFont>
    <p:embeddedFont>
      <p:font typeface="Garamond Bold" panose="020B0604020202020204" charset="0"/>
      <p:regular r:id="rId41"/>
    </p:embeddedFont>
    <p:embeddedFont>
      <p:font typeface="IBM Plex Sans Condensed" panose="020B0506050203000203" pitchFamily="34" charset="0"/>
      <p:regular r:id="rId42"/>
      <p:bold r:id="rId43"/>
      <p:italic r:id="rId44"/>
      <p:boldItalic r:id="rId45"/>
    </p:embeddedFont>
    <p:embeddedFont>
      <p:font typeface="IBM Plex Sans Condensed Bold" panose="020B0806050203000203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954" autoAdjust="0"/>
  </p:normalViewPr>
  <p:slideViewPr>
    <p:cSldViewPr>
      <p:cViewPr varScale="1">
        <p:scale>
          <a:sx n="98" d="100"/>
          <a:sy n="98" d="100"/>
        </p:scale>
        <p:origin x="10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612FD-5106-4E0C-8AAF-4A829B1C6C7A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93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04D7D-2B52-4D22-B070-F7F7A28875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6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F04D7D-2B52-4D22-B070-F7F7A28875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9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sales@roots-technologies.com" TargetMode="External"/><Relationship Id="rId13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8.pn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hyperlink" Target="mailto:contact.benin@roots.ws" TargetMode="External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1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6.png"/><Relationship Id="rId4" Type="http://schemas.openxmlformats.org/officeDocument/2006/relationships/image" Target="../media/image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6.png"/><Relationship Id="rId4" Type="http://schemas.openxmlformats.org/officeDocument/2006/relationships/image" Target="../media/image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34.png"/><Relationship Id="rId4" Type="http://schemas.openxmlformats.org/officeDocument/2006/relationships/image" Target="../media/image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contact.benin@roots.ws" TargetMode="External"/><Relationship Id="rId5" Type="http://schemas.openxmlformats.org/officeDocument/2006/relationships/hyperlink" Target="mailto:sales@roots-technologies.com" TargetMode="Externa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https://dakarstock.com/wp-content/uploads/2024/12/hp-probook-440-g10-i5-ordinateur-portable-85b62ea-2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9" t="9764" r="2998" b="8881"/>
          <a:stretch/>
        </p:blipFill>
        <p:spPr bwMode="auto">
          <a:xfrm>
            <a:off x="5365953" y="418638"/>
            <a:ext cx="4245004" cy="367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ell Vostro 3530 i3-1305U Ordinateur portable (N1603PVNB3530EMEA01)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87" b="23672"/>
          <a:stretch/>
        </p:blipFill>
        <p:spPr bwMode="auto">
          <a:xfrm>
            <a:off x="30480" y="986286"/>
            <a:ext cx="4919175" cy="295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823704" y="717804"/>
            <a:ext cx="1930908" cy="717804"/>
          </a:xfrm>
          <a:custGeom>
            <a:avLst/>
            <a:gdLst/>
            <a:ahLst/>
            <a:cxnLst/>
            <a:rect l="l" t="t" r="r" b="b"/>
            <a:pathLst>
              <a:path w="1930908" h="717804">
                <a:moveTo>
                  <a:pt x="0" y="0"/>
                </a:moveTo>
                <a:lnTo>
                  <a:pt x="1930908" y="0"/>
                </a:lnTo>
                <a:lnTo>
                  <a:pt x="1930908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57289" y="4276623"/>
            <a:ext cx="3713988" cy="1415796"/>
          </a:xfrm>
          <a:custGeom>
            <a:avLst/>
            <a:gdLst/>
            <a:ahLst/>
            <a:cxnLst/>
            <a:rect l="l" t="t" r="r" b="b"/>
            <a:pathLst>
              <a:path w="3713988" h="1415796">
                <a:moveTo>
                  <a:pt x="0" y="0"/>
                </a:moveTo>
                <a:lnTo>
                  <a:pt x="3713988" y="0"/>
                </a:lnTo>
                <a:lnTo>
                  <a:pt x="3713988" y="1415796"/>
                </a:lnTo>
                <a:lnTo>
                  <a:pt x="0" y="1415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62991" y="735882"/>
            <a:ext cx="5856580" cy="31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NOS MATERIELS ET SOLUTIONS INFORMATIQUE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3489" y="6019800"/>
            <a:ext cx="5458457" cy="598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296" b="1" spc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Tel : +228 93 07 87 87 / +228 93 44 71 71 / +229 99 56 52 52 / +229 99 56 41 41</a:t>
            </a:r>
          </a:p>
          <a:p>
            <a:pPr algn="l">
              <a:lnSpc>
                <a:spcPts val="1439"/>
              </a:lnSpc>
            </a:pPr>
            <a:r>
              <a:rPr lang="en-US" sz="1200" b="1" dirty="0">
                <a:solidFill>
                  <a:srgbClr val="828282"/>
                </a:solidFill>
                <a:latin typeface="Garamond Bold"/>
                <a:ea typeface="Garamond Bold"/>
                <a:cs typeface="Garamond Bold"/>
                <a:sym typeface="Garamond Bold"/>
                <a:hlinkClick r:id="rId8" tooltip="mailto:sales@roots-technologies.com"/>
              </a:rPr>
              <a:t>sales@roots-technologies.com</a:t>
            </a:r>
            <a:r>
              <a:rPr lang="en-US" sz="1200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/</a:t>
            </a:r>
            <a:r>
              <a:rPr lang="en-US" sz="1200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  <a:hlinkClick r:id="rId9" tooltip="mailto:contact.benin@roots.ws"/>
              </a:rPr>
              <a:t> </a:t>
            </a:r>
            <a:r>
              <a:rPr lang="en-US" sz="1200" b="1" dirty="0">
                <a:solidFill>
                  <a:srgbClr val="828282"/>
                </a:solidFill>
                <a:latin typeface="Garamond Bold"/>
                <a:ea typeface="Garamond Bold"/>
                <a:cs typeface="Garamond Bold"/>
                <a:sym typeface="Garamond Bold"/>
                <a:hlinkClick r:id="rId9" tooltip="mailto:contact.benin@roots.ws"/>
              </a:rPr>
              <a:t>contact.benin@roots.ws </a:t>
            </a:r>
            <a:endParaRPr lang="en-US" sz="1200" b="1" dirty="0">
              <a:solidFill>
                <a:srgbClr val="828282"/>
              </a:solidFill>
              <a:latin typeface="Garamond Bold"/>
              <a:ea typeface="Garamond Bold"/>
              <a:cs typeface="Garamond Bold"/>
              <a:sym typeface="Garamond Bold"/>
            </a:endParaRPr>
          </a:p>
          <a:p>
            <a:pPr algn="l">
              <a:lnSpc>
                <a:spcPts val="1439"/>
              </a:lnSpc>
            </a:pPr>
            <a:r>
              <a:rPr lang="en-US" sz="1200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Lomé –Togo / Cotonou -Benin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56700" y="6401374"/>
            <a:ext cx="3765552" cy="359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168"/>
              </a:lnSpc>
            </a:pPr>
            <a:r>
              <a:rPr lang="en-US" sz="1596" b="1" dirty="0" err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Produit</a:t>
            </a:r>
            <a:r>
              <a:rPr lang="en-US" sz="1596" b="1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1596" b="1" dirty="0" err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596" b="1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596" b="1" dirty="0" err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596" b="1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596" b="1" dirty="0" err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596" b="1" dirty="0">
              <a:solidFill>
                <a:srgbClr val="00000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015" y="3424906"/>
            <a:ext cx="3291202" cy="194013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0312">
            <a:off x="6438098" y="3337125"/>
            <a:ext cx="5047531" cy="347603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466" y="6292567"/>
            <a:ext cx="1284146" cy="449836"/>
          </a:xfrm>
          <a:prstGeom prst="rect">
            <a:avLst/>
          </a:prstGeom>
        </p:spPr>
      </p:pic>
      <p:pic>
        <p:nvPicPr>
          <p:cNvPr id="19" name="Picture 2" descr="File:Dell Logo.svg - Wikipedia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287" y="1198126"/>
            <a:ext cx="1295401" cy="123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ewlett-Packard — Wikipédia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162" y="1269945"/>
            <a:ext cx="1264812" cy="116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09F30B9-5C21-BDA8-6291-E88A0A6BDF7E}"/>
              </a:ext>
            </a:extLst>
          </p:cNvPr>
          <p:cNvSpPr txBox="1"/>
          <p:nvPr/>
        </p:nvSpPr>
        <p:spPr>
          <a:xfrm>
            <a:off x="376271" y="29699"/>
            <a:ext cx="3476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>
                <a:latin typeface="Garamond" panose="02020404030301010803" pitchFamily="18" charset="0"/>
              </a:rPr>
              <a:t>Personnal</a:t>
            </a:r>
            <a:r>
              <a:rPr lang="fr-FR" dirty="0">
                <a:latin typeface="Garamond" panose="02020404030301010803" pitchFamily="18" charset="0"/>
              </a:rPr>
              <a:t> Computer </a:t>
            </a:r>
            <a:r>
              <a:rPr lang="LID4096" dirty="0">
                <a:latin typeface="Garamond" panose="02020404030301010803" pitchFamily="18" charset="0"/>
              </a:rPr>
              <a:t>251</a:t>
            </a:r>
            <a:r>
              <a:rPr lang="fr-FR" dirty="0">
                <a:latin typeface="Garamond" panose="02020404030301010803" pitchFamily="18" charset="0"/>
              </a:rPr>
              <a:t>5V15</a:t>
            </a:r>
            <a:endParaRPr lang="LID4096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pic>
        <p:nvPicPr>
          <p:cNvPr id="1028" name="Picture 4" descr="Dell Unveils New Lightweight Latitude, Super-Charged Precision PCs | PCMa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507"/>
          <a:stretch/>
        </p:blipFill>
        <p:spPr bwMode="auto">
          <a:xfrm>
            <a:off x="0" y="0"/>
            <a:ext cx="12536633" cy="70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lipse 10"/>
          <p:cNvSpPr/>
          <p:nvPr/>
        </p:nvSpPr>
        <p:spPr>
          <a:xfrm>
            <a:off x="1773898" y="615182"/>
            <a:ext cx="1838382" cy="18383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32" y="369413"/>
            <a:ext cx="3929113" cy="227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0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158882"/>
              </p:ext>
            </p:extLst>
          </p:nvPr>
        </p:nvGraphicFramePr>
        <p:xfrm>
          <a:off x="383029" y="1811026"/>
          <a:ext cx="1129181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1371">
                  <a:extLst>
                    <a:ext uri="{9D8B030D-6E8A-4147-A177-3AD203B41FA5}">
                      <a16:colId xmlns:a16="http://schemas.microsoft.com/office/drawing/2014/main" val="2192080174"/>
                    </a:ext>
                  </a:extLst>
                </a:gridCol>
                <a:gridCol w="1311639">
                  <a:extLst>
                    <a:ext uri="{9D8B030D-6E8A-4147-A177-3AD203B41FA5}">
                      <a16:colId xmlns:a16="http://schemas.microsoft.com/office/drawing/2014/main" val="167081903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015118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dirty="0"/>
                        <a:t>DESIGNATION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dirty="0"/>
                        <a:t>P.U HT FCFA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dirty="0"/>
                        <a:t>Disponibilité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653128"/>
                  </a:ext>
                </a:extLst>
              </a:tr>
              <a:tr h="5613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8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RI2514422</a:t>
                      </a:r>
                      <a:endParaRPr lang="fr-FR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pPr>
                        <a:lnSpc>
                          <a:spcPts val="2805"/>
                        </a:lnSpc>
                      </a:pPr>
                      <a:r>
                        <a:rPr lang="fr-FR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DELL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VOSTRO 3530 LAPTOP (Ci3</a:t>
                      </a:r>
                      <a:r>
                        <a:rPr lang="en-US" sz="1600" kern="1200" baseline="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1305U/8GB/512GB/15.6''/FHD/UBUNTU/FRENCH KEYBOARD</a:t>
                      </a:r>
                      <a:endParaRPr lang="fr-FR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Garamond Bold"/>
                      </a:endParaRP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Garamond Bold"/>
                      </a:endParaRP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309</a:t>
                      </a:r>
                      <a:r>
                        <a:rPr lang="en-US" sz="1600" kern="12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 178</a:t>
                      </a:r>
                      <a:endParaRPr lang="fr-FR" sz="16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  <a:endParaRPr lang="fr-FR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46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RI2512388</a:t>
                      </a:r>
                      <a:endParaRPr lang="en-US" sz="10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DELL 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VOSTRO 3510 LAPTOP Ci5-1135G7 4GB DDR4/256GB SSD</a:t>
                      </a:r>
                      <a:endParaRPr lang="fr-FR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375 207</a:t>
                      </a:r>
                      <a:endParaRPr lang="fr-FR" sz="16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TOGO</a:t>
                      </a:r>
                      <a:endParaRPr lang="fr-FR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23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RI2511029</a:t>
                      </a:r>
                      <a:endParaRPr lang="en-US" sz="10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DELL VOSTRO 3520 15.6" Ci5-1235U 10C 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512 Go SSD M.2 </a:t>
                      </a:r>
                      <a:r>
                        <a:rPr lang="en-US" sz="16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PCIe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8Go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385 731</a:t>
                      </a:r>
                      <a:endParaRPr lang="fr-FR" sz="16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  <a:endParaRPr lang="fr-FR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422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RI2514423</a:t>
                      </a:r>
                      <a:endParaRPr lang="en-US" sz="10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DELL 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VOSTRO 3530 LAPTOP Ci5-1334U 512 Go SSD M.2 </a:t>
                      </a:r>
                      <a:r>
                        <a:rPr lang="en-US" sz="16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PCIe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8Go DDR4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386</a:t>
                      </a:r>
                      <a:r>
                        <a:rPr lang="fr-FR" sz="1600" kern="12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 530</a:t>
                      </a:r>
                      <a:endParaRPr lang="fr-FR" sz="16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  <a:endParaRPr lang="fr-FR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19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RI2511291</a:t>
                      </a:r>
                      <a:endParaRPr lang="en-US" sz="10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DELL LATITUDE  3420 Core i5 /1135G7/8Go/256/14'‘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665 000</a:t>
                      </a:r>
                      <a:endParaRPr lang="en-US" sz="16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BENIN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537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</a:rPr>
                        <a:t>RI2511022</a:t>
                      </a:r>
                      <a:r>
                        <a:rPr lang="en-US" sz="16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</a:rPr>
                        <a:t> </a:t>
                      </a:r>
                      <a:endParaRPr lang="fr-FR" sz="16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DELL 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LAT 5450-N 14" Cu5-125U 12C   512 Go SSD M.2 2230, TLC, Gen 4 </a:t>
                      </a:r>
                      <a:r>
                        <a:rPr lang="en-US" sz="16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PCIe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8Go DDR5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711 422</a:t>
                      </a:r>
                      <a:endParaRPr lang="en-US" sz="16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  <a:endParaRPr lang="en-US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5036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RI2511021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DELL </a:t>
                      </a: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LAT 5440 14" Ci5-1355U 10C 512Go SSD 8Go DDR5</a:t>
                      </a:r>
                      <a:endParaRPr lang="en-US" sz="16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760 275</a:t>
                      </a:r>
                      <a:endParaRPr lang="en-US" sz="1800" b="0" spc="-4" dirty="0">
                        <a:solidFill>
                          <a:srgbClr val="002060"/>
                        </a:solidFill>
                        <a:latin typeface="IBM Plex Sans Condensed Bold"/>
                        <a:ea typeface="IBM Plex Sans Condensed Bold"/>
                        <a:cs typeface="IBM Plex Sans Condensed Bold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13602"/>
                  </a:ext>
                </a:extLst>
              </a:tr>
            </a:tbl>
          </a:graphicData>
        </a:graphic>
      </p:graphicFrame>
      <p:sp>
        <p:nvSpPr>
          <p:cNvPr id="11" name="TextBox 19"/>
          <p:cNvSpPr txBox="1"/>
          <p:nvPr/>
        </p:nvSpPr>
        <p:spPr>
          <a:xfrm>
            <a:off x="1474770" y="990600"/>
            <a:ext cx="878526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fr-FR" sz="2000" b="1" spc="-4" dirty="0"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Liste des ordinateurs portables DELL</a:t>
            </a:r>
            <a:endParaRPr lang="en-US" sz="2000" b="1" spc="-4" dirty="0"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ll Vostro 3530 i3-1305U Ordinateur portable (N1603PVNB3530EMEA01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87" b="23672"/>
          <a:stretch/>
        </p:blipFill>
        <p:spPr bwMode="auto">
          <a:xfrm>
            <a:off x="130099" y="2133600"/>
            <a:ext cx="7256738" cy="435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64505" y="696813"/>
            <a:ext cx="7086507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fr-FR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DELL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VOSTRO 3530 LAPTOP (Ci3-1305U/8GB/512GB/15.6''/FHD/UBUNTU/FRENCH KEYBOARD</a:t>
            </a:r>
            <a:endParaRPr lang="fr-FR" sz="2004" b="1" spc="-4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2805"/>
              </a:lnSpc>
            </a:pPr>
            <a:r>
              <a:rPr lang="fr-FR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RI2514422</a:t>
            </a:r>
            <a:endParaRPr lang="en-US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sp>
        <p:nvSpPr>
          <p:cNvPr id="37" name="TextBox 35"/>
          <p:cNvSpPr txBox="1"/>
          <p:nvPr/>
        </p:nvSpPr>
        <p:spPr>
          <a:xfrm>
            <a:off x="5893736" y="2552376"/>
            <a:ext cx="26938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309 178 FCFA 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3400" y="1752600"/>
            <a:ext cx="3843023" cy="3129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ubuntu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  <a:p>
            <a:r>
              <a:rPr lang="en-US" spc="-3" dirty="0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i5-1305U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FHD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SSD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4661" y="2894596"/>
            <a:ext cx="16877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364 830 FCFA TTC</a:t>
            </a:r>
          </a:p>
        </p:txBody>
      </p:sp>
      <p:sp>
        <p:nvSpPr>
          <p:cNvPr id="11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20"/>
          <p:cNvSpPr txBox="1"/>
          <p:nvPr/>
        </p:nvSpPr>
        <p:spPr>
          <a:xfrm>
            <a:off x="8229600" y="4800600"/>
            <a:ext cx="3843926" cy="1180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76586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ll Vostro 3530 i3-1305U Ordinateur portable (N1603PVNB3530EMEA01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87" b="23672"/>
          <a:stretch/>
        </p:blipFill>
        <p:spPr bwMode="auto">
          <a:xfrm>
            <a:off x="130099" y="2133600"/>
            <a:ext cx="7256738" cy="435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64505" y="696813"/>
            <a:ext cx="7086507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fr-FR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DELL 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VOSTRO 3510 LAPTOP Ci5-1135G7 4GB DDR4/256GB SSD</a:t>
            </a:r>
            <a:endParaRPr lang="fr-FR" sz="2004" b="1" spc="-4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2805"/>
              </a:lnSpc>
            </a:pPr>
            <a:r>
              <a:rPr lang="fr-FR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RI2512388</a:t>
            </a:r>
            <a:endParaRPr lang="en-US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sp>
        <p:nvSpPr>
          <p:cNvPr id="37" name="TextBox 35"/>
          <p:cNvSpPr txBox="1"/>
          <p:nvPr/>
        </p:nvSpPr>
        <p:spPr>
          <a:xfrm>
            <a:off x="5893736" y="2552376"/>
            <a:ext cx="26938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375 207 FCFA 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3400" y="1752600"/>
            <a:ext cx="3843023" cy="3406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ubuntu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  <a:p>
            <a:r>
              <a:rPr lang="en-US" spc="-3" dirty="0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i5-1135G7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4GB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-apple-system"/>
              </a:rPr>
              <a:t>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256 GB SSD</a:t>
            </a:r>
            <a:r>
              <a:rPr lang="en-US" dirty="0"/>
              <a:t>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M.2 2230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NVMe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4661" y="2894596"/>
            <a:ext cx="16877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442 744 FCFA TTC</a:t>
            </a:r>
          </a:p>
        </p:txBody>
      </p:sp>
      <p:sp>
        <p:nvSpPr>
          <p:cNvPr id="13" name="TextBox 28"/>
          <p:cNvSpPr txBox="1"/>
          <p:nvPr/>
        </p:nvSpPr>
        <p:spPr>
          <a:xfrm>
            <a:off x="8236206" y="4953000"/>
            <a:ext cx="3694472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STOCK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au TOGO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11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50437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64506" y="696813"/>
            <a:ext cx="6549685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fr-FR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DELL VOSTRO 3520 15.6" Ci5-1235U 10C </a:t>
            </a:r>
          </a:p>
          <a:p>
            <a:pPr>
              <a:lnSpc>
                <a:spcPts val="2805"/>
              </a:lnSpc>
            </a:pPr>
            <a:r>
              <a:rPr lang="fr-FR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RI2511029</a:t>
            </a:r>
            <a:endParaRPr lang="en-US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sp>
        <p:nvSpPr>
          <p:cNvPr id="37" name="TextBox 35"/>
          <p:cNvSpPr txBox="1"/>
          <p:nvPr/>
        </p:nvSpPr>
        <p:spPr>
          <a:xfrm>
            <a:off x="5542318" y="5353670"/>
            <a:ext cx="26938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385 731 FCFA HT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676400"/>
            <a:ext cx="3646129" cy="37668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57" y="992655"/>
            <a:ext cx="4762500" cy="47625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16"/>
          <p:cNvSpPr/>
          <p:nvPr/>
        </p:nvSpPr>
        <p:spPr>
          <a:xfrm>
            <a:off x="8382000" y="1794570"/>
            <a:ext cx="3843023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>
                <a:solidFill>
                  <a:srgbClr val="4C5771"/>
                </a:solidFill>
                <a:latin typeface="-apple-system"/>
                <a:sym typeface="IBM Plex Sans Condensed"/>
              </a:rPr>
              <a:t>UBUNTU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  <a:p>
            <a:r>
              <a:rPr lang="en-US" spc="-3" dirty="0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i5-1235U 10C 4.4GHz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SSD M.2 2230,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 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NVMe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Ports &amp; wifi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WIFIBT  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0457" y="5695890"/>
            <a:ext cx="16733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455 163 FCFA TTC</a:t>
            </a:r>
          </a:p>
        </p:txBody>
      </p:sp>
      <p:sp>
        <p:nvSpPr>
          <p:cNvPr id="14" name="TextBox 20"/>
          <p:cNvSpPr txBox="1"/>
          <p:nvPr/>
        </p:nvSpPr>
        <p:spPr>
          <a:xfrm>
            <a:off x="8458200" y="5372620"/>
            <a:ext cx="3843926" cy="1180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12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948334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ll Vostro 3530 i3-1305U Ordinateur portable (N1603PVNB3530EMEA01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87" b="23672"/>
          <a:stretch/>
        </p:blipFill>
        <p:spPr bwMode="auto">
          <a:xfrm>
            <a:off x="91440" y="1752600"/>
            <a:ext cx="6645525" cy="398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64506" y="696813"/>
            <a:ext cx="6549685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fr-FR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DELL 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VOSTRO 3530 LAPTOP Ci5-1334U</a:t>
            </a:r>
            <a:endParaRPr lang="fr-FR" sz="2004" b="1" spc="-4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2805"/>
              </a:lnSpc>
            </a:pPr>
            <a:r>
              <a:rPr lang="fr-FR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RI2514423</a:t>
            </a:r>
            <a:endParaRPr lang="en-US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sp>
        <p:nvSpPr>
          <p:cNvPr id="37" name="TextBox 35"/>
          <p:cNvSpPr txBox="1"/>
          <p:nvPr/>
        </p:nvSpPr>
        <p:spPr>
          <a:xfrm>
            <a:off x="6400800" y="3193763"/>
            <a:ext cx="26938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386 530 FCFA 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6177" y="1752600"/>
            <a:ext cx="3843023" cy="3766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ubuntu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  <a:p>
            <a:r>
              <a:rPr lang="en-US" spc="-3" dirty="0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i5-1334U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FHD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SSD</a:t>
            </a:r>
            <a:r>
              <a:rPr lang="en-US" dirty="0"/>
              <a:t>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M.2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NVMe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Clavier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Français</a:t>
            </a: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  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8941" y="3535983"/>
            <a:ext cx="16733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456 105 FCFA TTC</a:t>
            </a:r>
          </a:p>
        </p:txBody>
      </p:sp>
      <p:sp>
        <p:nvSpPr>
          <p:cNvPr id="14" name="TextBox 20"/>
          <p:cNvSpPr txBox="1"/>
          <p:nvPr/>
        </p:nvSpPr>
        <p:spPr>
          <a:xfrm>
            <a:off x="8881474" y="5334000"/>
            <a:ext cx="3843926" cy="1180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11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8497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ell latitude 3420 core i5 1135g7 2.4ghz DEL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" t="19133" r="74" b="18920"/>
          <a:stretch/>
        </p:blipFill>
        <p:spPr bwMode="auto">
          <a:xfrm>
            <a:off x="356329" y="2961489"/>
            <a:ext cx="5739671" cy="355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57200" y="732059"/>
            <a:ext cx="768889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DELL LATITUDE  3420 Core i5 /1135G7/8Go/256Go/14'‘ 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RI2511291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268" y="1450204"/>
            <a:ext cx="5049454" cy="34740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5"/>
          <p:cNvSpPr txBox="1"/>
          <p:nvPr/>
        </p:nvSpPr>
        <p:spPr>
          <a:xfrm>
            <a:off x="6753992" y="5505251"/>
            <a:ext cx="260654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665 000 FCFA 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7646" y="2052538"/>
            <a:ext cx="3843023" cy="3129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N/A</a:t>
            </a:r>
          </a:p>
          <a:p>
            <a:r>
              <a:rPr lang="en-US" spc="-3" dirty="0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i5-1135G7 4.1GHz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14" FHD(1920x1080) </a:t>
            </a:r>
            <a:r>
              <a:rPr lang="en-US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antireflet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256 Go SSD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4992" y="5798530"/>
            <a:ext cx="17326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784 700 FCFA TTC </a:t>
            </a:r>
          </a:p>
        </p:txBody>
      </p:sp>
      <p:sp>
        <p:nvSpPr>
          <p:cNvPr id="13" name="TextBox 28"/>
          <p:cNvSpPr txBox="1"/>
          <p:nvPr/>
        </p:nvSpPr>
        <p:spPr>
          <a:xfrm>
            <a:off x="8991600" y="5181600"/>
            <a:ext cx="3694472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STOCK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au 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BENIN</a:t>
            </a:r>
          </a:p>
        </p:txBody>
      </p:sp>
      <p:sp>
        <p:nvSpPr>
          <p:cNvPr id="11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98981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64506" y="696813"/>
            <a:ext cx="6549685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fr-FR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DELL 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LAT 5450-N 14" Cu5-125U 12C   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</a:rPr>
              <a:t>RI2511022</a:t>
            </a:r>
            <a:endParaRPr lang="en-US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sp>
        <p:nvSpPr>
          <p:cNvPr id="37" name="TextBox 35"/>
          <p:cNvSpPr txBox="1"/>
          <p:nvPr/>
        </p:nvSpPr>
        <p:spPr>
          <a:xfrm>
            <a:off x="5486400" y="4907928"/>
            <a:ext cx="2632795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711 422 FCFA 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1545372"/>
            <a:ext cx="471787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sz="2000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sz="2000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sz="2000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sz="2000" dirty="0">
                <a:solidFill>
                  <a:srgbClr val="4C5771"/>
                </a:solidFill>
                <a:latin typeface="-apple-system"/>
              </a:rPr>
              <a:t>UBUNTU</a:t>
            </a:r>
          </a:p>
          <a:p>
            <a:r>
              <a:rPr lang="en-US" sz="2000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sz="2000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sz="2000" dirty="0">
                <a:solidFill>
                  <a:srgbClr val="4C5771"/>
                </a:solidFill>
                <a:latin typeface="-apple-system"/>
              </a:rPr>
              <a:t>Intel</a:t>
            </a:r>
            <a:r>
              <a:rPr lang="en-US" sz="2000" baseline="30000" dirty="0">
                <a:solidFill>
                  <a:srgbClr val="4C5771"/>
                </a:solidFill>
                <a:latin typeface="-apple-system"/>
              </a:rPr>
              <a:t>®</a:t>
            </a:r>
            <a:r>
              <a:rPr lang="en-US" sz="2000" dirty="0">
                <a:solidFill>
                  <a:srgbClr val="4C5771"/>
                </a:solidFill>
                <a:latin typeface="-apple-system"/>
              </a:rPr>
              <a:t> Core™ ULTRA 5  4.3GHz</a:t>
            </a:r>
          </a:p>
          <a:p>
            <a:r>
              <a:rPr lang="en-US" sz="2000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sz="2000" dirty="0">
                <a:solidFill>
                  <a:srgbClr val="4C5771"/>
                </a:solidFill>
                <a:latin typeface="-apple-system"/>
              </a:rPr>
              <a:t>8 Go DDR5 </a:t>
            </a:r>
          </a:p>
          <a:p>
            <a:r>
              <a:rPr lang="en-US" sz="2000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sz="2000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sz="2000" dirty="0">
                <a:solidFill>
                  <a:srgbClr val="4C5771"/>
                </a:solidFill>
                <a:latin typeface="-apple-system"/>
              </a:rPr>
              <a:t>512 Go SSD M.2 2230, TLC, </a:t>
            </a:r>
          </a:p>
          <a:p>
            <a:r>
              <a:rPr lang="en-US" sz="2000" dirty="0">
                <a:solidFill>
                  <a:srgbClr val="4C5771"/>
                </a:solidFill>
                <a:latin typeface="-apple-system"/>
              </a:rPr>
              <a:t>Gen 4 </a:t>
            </a:r>
            <a:r>
              <a:rPr lang="en-US" sz="2000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sz="2000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sz="2000" dirty="0" err="1">
                <a:solidFill>
                  <a:srgbClr val="4C5771"/>
                </a:solidFill>
                <a:latin typeface="-apple-system"/>
              </a:rPr>
              <a:t>NVMe</a:t>
            </a:r>
            <a:r>
              <a:rPr lang="en-US" sz="2000" dirty="0">
                <a:solidFill>
                  <a:srgbClr val="4C5771"/>
                </a:solidFill>
                <a:latin typeface="-apple-system"/>
              </a:rPr>
              <a:t>, </a:t>
            </a:r>
          </a:p>
          <a:p>
            <a:r>
              <a:rPr lang="fr-FR" sz="2000" b="1" dirty="0">
                <a:solidFill>
                  <a:srgbClr val="4C5771"/>
                </a:solidFill>
                <a:latin typeface="-apple-system"/>
              </a:rPr>
              <a:t>Ecran</a:t>
            </a:r>
            <a:endParaRPr lang="en-US" sz="2000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sz="2000" b="1" dirty="0">
                <a:solidFill>
                  <a:srgbClr val="4C5771"/>
                </a:solidFill>
                <a:latin typeface="-apple-system"/>
              </a:rPr>
              <a:t>14</a:t>
            </a:r>
            <a:r>
              <a:rPr lang="en-US" sz="2000" b="1" dirty="0">
                <a:solidFill>
                  <a:srgbClr val="4C5771"/>
                </a:solidFill>
                <a:latin typeface="-apple-system"/>
              </a:rPr>
              <a:t>″</a:t>
            </a:r>
          </a:p>
          <a:p>
            <a:r>
              <a:rPr lang="fr-FR" sz="2000" b="1" dirty="0">
                <a:solidFill>
                  <a:srgbClr val="4C5771"/>
                </a:solidFill>
                <a:latin typeface="-apple-system"/>
              </a:rPr>
              <a:t>Clavier</a:t>
            </a:r>
          </a:p>
          <a:p>
            <a:r>
              <a:rPr lang="fr-FR" sz="2000" dirty="0">
                <a:solidFill>
                  <a:srgbClr val="4C5771"/>
                </a:solidFill>
                <a:latin typeface="-apple-system"/>
              </a:rPr>
              <a:t>AZERTY</a:t>
            </a:r>
            <a:endParaRPr lang="en-US" sz="2000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20" name="TextBox 24"/>
          <p:cNvSpPr txBox="1"/>
          <p:nvPr/>
        </p:nvSpPr>
        <p:spPr>
          <a:xfrm>
            <a:off x="5974037" y="1940204"/>
            <a:ext cx="2451770" cy="3418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4000" b="1" spc="-3" dirty="0"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NEW</a:t>
            </a:r>
          </a:p>
        </p:txBody>
      </p:sp>
      <p:pic>
        <p:nvPicPr>
          <p:cNvPr id="1026" name="Picture 2" descr="View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432" y="2226522"/>
            <a:ext cx="3926632" cy="234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ew 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128" y="1828604"/>
            <a:ext cx="5103072" cy="304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791200" y="5181600"/>
            <a:ext cx="16877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839 478 FCFA TTC </a:t>
            </a:r>
          </a:p>
        </p:txBody>
      </p:sp>
      <p:sp>
        <p:nvSpPr>
          <p:cNvPr id="15" name="TextBox 20"/>
          <p:cNvSpPr txBox="1"/>
          <p:nvPr/>
        </p:nvSpPr>
        <p:spPr>
          <a:xfrm>
            <a:off x="8534400" y="5486400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13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5598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30" y="2131501"/>
            <a:ext cx="5529063" cy="55290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64506" y="696813"/>
            <a:ext cx="6549685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fr-FR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DELL 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LAT 5440 14" Ci5-1355U 10C </a:t>
            </a:r>
            <a:r>
              <a:rPr lang="pl-PL" sz="2400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 </a:t>
            </a:r>
            <a:r>
              <a:rPr lang="fr-FR" sz="2400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</a:rPr>
              <a:t>RI2511021</a:t>
            </a:r>
            <a:r>
              <a:rPr lang="pl-PL" sz="2400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endParaRPr lang="en-US" sz="2004" b="1" spc="-4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" t="14279" r="951" b="18092"/>
          <a:stretch/>
        </p:blipFill>
        <p:spPr>
          <a:xfrm>
            <a:off x="3443420" y="1291062"/>
            <a:ext cx="4852430" cy="33571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/>
          <p:cNvSpPr/>
          <p:nvPr/>
        </p:nvSpPr>
        <p:spPr>
          <a:xfrm>
            <a:off x="8572311" y="1593771"/>
            <a:ext cx="3843023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Windows 11 Pro</a:t>
            </a:r>
          </a:p>
          <a:p>
            <a:r>
              <a:rPr lang="en-US" spc="-3" dirty="0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i5-1355U 10C 4.6GHz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DDR5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SSD</a:t>
            </a: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Ports &amp; wifi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WIFIBT  </a:t>
            </a:r>
          </a:p>
        </p:txBody>
      </p:sp>
      <p:sp>
        <p:nvSpPr>
          <p:cNvPr id="37" name="TextBox 35"/>
          <p:cNvSpPr txBox="1"/>
          <p:nvPr/>
        </p:nvSpPr>
        <p:spPr>
          <a:xfrm>
            <a:off x="5121502" y="4896033"/>
            <a:ext cx="3131435" cy="308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760 275 FCFA 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0" y="5105400"/>
            <a:ext cx="17182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897 125 FCFA TTC </a:t>
            </a:r>
          </a:p>
        </p:txBody>
      </p:sp>
      <p:sp>
        <p:nvSpPr>
          <p:cNvPr id="14" name="TextBox 20"/>
          <p:cNvSpPr txBox="1"/>
          <p:nvPr/>
        </p:nvSpPr>
        <p:spPr>
          <a:xfrm>
            <a:off x="8652874" y="5257800"/>
            <a:ext cx="324754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12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44198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sp>
        <p:nvSpPr>
          <p:cNvPr id="3" name="AutoShape 2" descr="Hp Logo PNG Images - CleanPNG"/>
          <p:cNvSpPr>
            <a:spLocks noChangeAspect="1" noChangeArrowheads="1"/>
          </p:cNvSpPr>
          <p:nvPr/>
        </p:nvSpPr>
        <p:spPr bwMode="auto">
          <a:xfrm>
            <a:off x="155575" y="-144463"/>
            <a:ext cx="2125656" cy="212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Logo HP représentant la technologie et l'innovation"/>
          <p:cNvSpPr>
            <a:spLocks noChangeAspect="1" noChangeArrowheads="1"/>
          </p:cNvSpPr>
          <p:nvPr/>
        </p:nvSpPr>
        <p:spPr bwMode="auto">
          <a:xfrm>
            <a:off x="503780" y="120336"/>
            <a:ext cx="373061" cy="37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Logo bleu de la société HP"/>
          <p:cNvSpPr>
            <a:spLocks noChangeAspect="1" noChangeArrowheads="1"/>
          </p:cNvSpPr>
          <p:nvPr/>
        </p:nvSpPr>
        <p:spPr bwMode="auto">
          <a:xfrm>
            <a:off x="-35498" y="29229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8" name="Picture 2" descr="The best HP laptop in 2025: our top picks from this trusted laptop brand |  TechRada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2345" y="-27482"/>
            <a:ext cx="13096680" cy="736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llipse 5"/>
          <p:cNvSpPr/>
          <p:nvPr/>
        </p:nvSpPr>
        <p:spPr>
          <a:xfrm>
            <a:off x="9447276" y="440944"/>
            <a:ext cx="1828800" cy="18150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2" descr="HP Logo PNG Transparent &amp; SVG Vector - Freebie Suppl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146" y="325957"/>
            <a:ext cx="2045059" cy="204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88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235921"/>
              </p:ext>
            </p:extLst>
          </p:nvPr>
        </p:nvGraphicFramePr>
        <p:xfrm>
          <a:off x="383028" y="1600200"/>
          <a:ext cx="11425933" cy="4954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5172">
                  <a:extLst>
                    <a:ext uri="{9D8B030D-6E8A-4147-A177-3AD203B41FA5}">
                      <a16:colId xmlns:a16="http://schemas.microsoft.com/office/drawing/2014/main" val="219208017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61343662"/>
                    </a:ext>
                  </a:extLst>
                </a:gridCol>
                <a:gridCol w="2131561">
                  <a:extLst>
                    <a:ext uri="{9D8B030D-6E8A-4147-A177-3AD203B41FA5}">
                      <a16:colId xmlns:a16="http://schemas.microsoft.com/office/drawing/2014/main" val="3431077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DESIGNATION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P.U</a:t>
                      </a:r>
                      <a:r>
                        <a:rPr lang="fr-FR" baseline="0" dirty="0"/>
                        <a:t> HT FCFA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Disponibilité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65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8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RI2514418</a:t>
                      </a:r>
                    </a:p>
                    <a:p>
                      <a:pPr>
                        <a:lnSpc>
                          <a:spcPts val="2805"/>
                        </a:lnSpc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HP 250G10 N100 15 4GB/256GB PC Fingerprint Reader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219 613 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796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8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RI2514419</a:t>
                      </a:r>
                      <a:endParaRPr lang="fr-FR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pPr>
                        <a:lnSpc>
                          <a:spcPts val="2805"/>
                        </a:lnSpc>
                      </a:pPr>
                      <a:r>
                        <a:rPr lang="pl-PL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HP 250G10 i3-1315U 15 8GB/512GB PC</a:t>
                      </a:r>
                      <a:endParaRPr lang="fr-FR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288 822 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32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8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RI2514420</a:t>
                      </a:r>
                      <a:endParaRPr lang="fr-FR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r>
                        <a:rPr lang="pl-PL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HP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250G10 i5-1334U 15 8GB/512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353 961 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64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RI2511257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HP Laptop i3-N305 8Go/512Go SSD 15.6'' </a:t>
                      </a: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Freedos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 3.0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362 118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858124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8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pc="-4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IBM Plex Sans Condensed Bold"/>
                          <a:ea typeface="IBM Plex Sans Condensed Bold"/>
                          <a:cs typeface="IBM Plex Sans Condensed Bold"/>
                          <a:sym typeface="IBM Plex Sans Condensed Bold"/>
                        </a:rPr>
                        <a:t>RI2514417</a:t>
                      </a:r>
                    </a:p>
                    <a:p>
                      <a:pPr>
                        <a:lnSpc>
                          <a:spcPts val="2805"/>
                        </a:lnSpc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PC HP 250 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i3-1005G1</a:t>
                      </a: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441 758 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TOGO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546062"/>
                  </a:ext>
                </a:extLst>
              </a:tr>
            </a:tbl>
          </a:graphicData>
        </a:graphic>
      </p:graphicFrame>
      <p:sp>
        <p:nvSpPr>
          <p:cNvPr id="12" name="TextBox 19"/>
          <p:cNvSpPr txBox="1"/>
          <p:nvPr/>
        </p:nvSpPr>
        <p:spPr>
          <a:xfrm>
            <a:off x="1474770" y="1143000"/>
            <a:ext cx="8785260" cy="33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fr-FR" sz="2000" b="1" spc="-4" dirty="0"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Liste des ordinateurs portables HP</a:t>
            </a:r>
            <a:endParaRPr lang="en-US" sz="2000" b="1" spc="-4" dirty="0"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399732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253990"/>
              </p:ext>
            </p:extLst>
          </p:nvPr>
        </p:nvGraphicFramePr>
        <p:xfrm>
          <a:off x="383028" y="1600200"/>
          <a:ext cx="11425933" cy="3685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5172">
                  <a:extLst>
                    <a:ext uri="{9D8B030D-6E8A-4147-A177-3AD203B41FA5}">
                      <a16:colId xmlns:a16="http://schemas.microsoft.com/office/drawing/2014/main" val="219208017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61343662"/>
                    </a:ext>
                  </a:extLst>
                </a:gridCol>
                <a:gridCol w="2131561">
                  <a:extLst>
                    <a:ext uri="{9D8B030D-6E8A-4147-A177-3AD203B41FA5}">
                      <a16:colId xmlns:a16="http://schemas.microsoft.com/office/drawing/2014/main" val="3431077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DESIGNATION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P.U</a:t>
                      </a:r>
                      <a:r>
                        <a:rPr lang="fr-FR" baseline="0" dirty="0"/>
                        <a:t> HT FCFA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Disponibilité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65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RI2512385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HP Laptop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250 i5-1335U 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8Go/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512 Go SSD </a:t>
                      </a: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™ PCIe®G10 FREEDOS3.0</a:t>
                      </a: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454 227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422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RI2514421</a:t>
                      </a:r>
                      <a:endParaRPr lang="fr-FR" sz="10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HP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</a:t>
                      </a:r>
                      <a:r>
                        <a:rPr lang="pl-PL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PB450G10 i5-1334U 14 16GB/512 PC </a:t>
                      </a: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467 952  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32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RI2512386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HP Laptop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450 G10 i5-1335U 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8Go/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512 Go SSD </a:t>
                      </a: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™ PCIe®G10FREEDOS</a:t>
                      </a: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 548 290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19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085752"/>
                  </a:ext>
                </a:extLst>
              </a:tr>
            </a:tbl>
          </a:graphicData>
        </a:graphic>
      </p:graphicFrame>
      <p:sp>
        <p:nvSpPr>
          <p:cNvPr id="12" name="TextBox 19"/>
          <p:cNvSpPr txBox="1"/>
          <p:nvPr/>
        </p:nvSpPr>
        <p:spPr>
          <a:xfrm>
            <a:off x="1474770" y="1143000"/>
            <a:ext cx="8785260" cy="33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fr-FR" sz="2000" b="1" spc="-4" dirty="0"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Liste des ordinateurs portables HP</a:t>
            </a:r>
            <a:endParaRPr lang="en-US" sz="2000" b="1" spc="-4" dirty="0"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137203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286362" y="2453564"/>
            <a:ext cx="75314" cy="37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spc="-3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506741"/>
              </p:ext>
            </p:extLst>
          </p:nvPr>
        </p:nvGraphicFramePr>
        <p:xfrm>
          <a:off x="475703" y="1752600"/>
          <a:ext cx="11278909" cy="322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0097">
                  <a:extLst>
                    <a:ext uri="{9D8B030D-6E8A-4147-A177-3AD203B41FA5}">
                      <a16:colId xmlns:a16="http://schemas.microsoft.com/office/drawing/2014/main" val="219208017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61343662"/>
                    </a:ext>
                  </a:extLst>
                </a:gridCol>
                <a:gridCol w="2229612">
                  <a:extLst>
                    <a:ext uri="{9D8B030D-6E8A-4147-A177-3AD203B41FA5}">
                      <a16:colId xmlns:a16="http://schemas.microsoft.com/office/drawing/2014/main" val="3290562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DESIGNATION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P.U</a:t>
                      </a:r>
                      <a:r>
                        <a:rPr lang="fr-FR" baseline="0" dirty="0"/>
                        <a:t> HT FCFA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Disponibilité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65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</a:rPr>
                        <a:t>RI2512376</a:t>
                      </a:r>
                    </a:p>
                    <a:p>
                      <a:pPr marL="0" algn="l" defTabSz="914400" rtl="0" eaLnBrk="1" latinLnBrk="0" hangingPunct="1">
                        <a:lnSpc>
                          <a:spcPts val="3240"/>
                        </a:lnSpc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HP </a:t>
                      </a: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ProBook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450 G10 (816N8EA)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</a:rPr>
                        <a:t>560 000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BENIN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50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RI2511355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ORDINATEUR PORTABLE HP 250 G8 i5-1035G1 HD 8Go/1To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565 000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TOGO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98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RI2511356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HP PROBOOK 450 G8 -15.6" -CORE I7 -1165G7 -8GO RAM –512GOSSD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1 426 900 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TOGO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859213"/>
                  </a:ext>
                </a:extLst>
              </a:tr>
            </a:tbl>
          </a:graphicData>
        </a:graphic>
      </p:graphicFrame>
      <p:sp>
        <p:nvSpPr>
          <p:cNvPr id="12" name="TextBox 19"/>
          <p:cNvSpPr txBox="1"/>
          <p:nvPr/>
        </p:nvSpPr>
        <p:spPr>
          <a:xfrm>
            <a:off x="1474770" y="1143000"/>
            <a:ext cx="8785260" cy="33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fr-FR" sz="2000" b="1" spc="-4" dirty="0"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Liste des ordinateurs portables HP</a:t>
            </a:r>
            <a:endParaRPr lang="en-US" sz="2000" b="1" spc="-4" dirty="0"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354104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49580" y="857712"/>
            <a:ext cx="878526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HP 250G10 N100 15</a:t>
            </a:r>
            <a:r>
              <a:rPr lang="en-US" sz="2400" dirty="0">
                <a:solidFill>
                  <a:srgbClr val="4C5771"/>
                </a:solidFill>
                <a:latin typeface="-apple-system"/>
                <a:sym typeface="IBM Plex Sans Condensed"/>
              </a:rPr>
              <a:t>"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4GB/256GB PC Fingerprint Reader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RI2514418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01157" y="4895893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113696" y="4666516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219 613 FCFA 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4473" y="2122230"/>
            <a:ext cx="5478968" cy="2852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N100 </a:t>
            </a:r>
            <a:r>
              <a:rPr lang="fr-FR" dirty="0">
                <a:solidFill>
                  <a:srgbClr val="4C5771"/>
                </a:solidFill>
                <a:latin typeface="-apple-system"/>
              </a:rPr>
              <a:t>(jusqu'à 3,4 GHz Turbo </a:t>
            </a:r>
            <a:r>
              <a:rPr lang="fr-FR" dirty="0" err="1">
                <a:solidFill>
                  <a:srgbClr val="4C5771"/>
                </a:solidFill>
                <a:latin typeface="-apple-system"/>
              </a:rPr>
              <a:t>Boost</a:t>
            </a:r>
            <a:r>
              <a:rPr lang="fr-FR" dirty="0">
                <a:solidFill>
                  <a:srgbClr val="4C5771"/>
                </a:solidFill>
                <a:latin typeface="-apple-system"/>
              </a:rPr>
              <a:t>)</a:t>
            </a:r>
            <a:endParaRPr lang="en-US" dirty="0">
              <a:solidFill>
                <a:srgbClr val="4C5771"/>
              </a:solidFill>
              <a:latin typeface="-apple-system"/>
              <a:sym typeface="IBM Plex Sans Condensed"/>
            </a:endParaRP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15" 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4GB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256GB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Fingerprint Reader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35885" y="4906566"/>
            <a:ext cx="26581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259 144 FCFA TTC </a:t>
            </a:r>
          </a:p>
        </p:txBody>
      </p:sp>
      <p:sp>
        <p:nvSpPr>
          <p:cNvPr id="10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026" name="Picture 2" descr="Ordinateur portable HP 250 G10 15 pouces FFPlus FFPlusPlus TurboSilver NT HDcam FPR Catalogue VisID GrayBG Ava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905000"/>
            <a:ext cx="5791807" cy="434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69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C Portable Professionnel HP 250 G10 15,6&quot;   - Windows 11 Famil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" y="2152710"/>
            <a:ext cx="6201880" cy="455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49580" y="857712"/>
            <a:ext cx="878526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HP 250G10 i3-1315U 15</a:t>
            </a:r>
            <a:r>
              <a:rPr lang="en-US" sz="2400" dirty="0">
                <a:solidFill>
                  <a:srgbClr val="4C5771"/>
                </a:solidFill>
                <a:latin typeface="-apple-system"/>
                <a:sym typeface="IBM Plex Sans Condensed"/>
              </a:rPr>
              <a:t>"</a:t>
            </a:r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8GB/512GB PC</a:t>
            </a:r>
            <a:endParaRPr lang="fr-FR" sz="2004" b="1" spc="-4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RI2514419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95674" y="4895893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486400" y="4922440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288 822 FCFA 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6197" y="2369625"/>
            <a:ext cx="5478968" cy="2575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i3-1315U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15" 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8GB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512GB SSD</a:t>
            </a:r>
            <a:endParaRPr lang="en-US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08589" y="5162490"/>
            <a:ext cx="26581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340 810 FCFA TTC </a:t>
            </a:r>
          </a:p>
        </p:txBody>
      </p:sp>
      <p:sp>
        <p:nvSpPr>
          <p:cNvPr id="10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23333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C Portable Professionnel HP 250 G10 15,6&quot;   - Windows 11 Famil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9" y="2152710"/>
            <a:ext cx="6201880" cy="455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49580" y="857712"/>
            <a:ext cx="8785260" cy="66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HP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250G10 i5-1334U 15 8GB/512 PC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RI2514420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95674" y="4895893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486400" y="4922440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353 961 FCFA 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6197" y="2369625"/>
            <a:ext cx="5478968" cy="2575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i5-1334U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15" 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8GB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512GB SSD</a:t>
            </a:r>
            <a:endParaRPr lang="en-US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08589" y="5162490"/>
            <a:ext cx="26581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417 673 FCFA TTC </a:t>
            </a:r>
          </a:p>
        </p:txBody>
      </p:sp>
      <p:sp>
        <p:nvSpPr>
          <p:cNvPr id="10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2347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ortable HP 15 Core i3-N305 8GB 512GB FreeDOS -9R491E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3" t="12995" r="6551" b="14520"/>
          <a:stretch/>
        </p:blipFill>
        <p:spPr bwMode="auto">
          <a:xfrm>
            <a:off x="233839" y="1435608"/>
            <a:ext cx="6014561" cy="515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49580" y="857712"/>
            <a:ext cx="878526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HP Laptop i3-N305 8Go/512Go SSD 15.6'' </a:t>
            </a:r>
            <a:r>
              <a:rPr lang="en-US" sz="2004" b="1" spc="-4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Freedos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3.0    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RI2511257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19474" y="5257800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537251" y="5276701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362 118 FCFA 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4129" y="2071568"/>
            <a:ext cx="3843023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i3-N305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SSD</a:t>
            </a: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Ports &amp; wifi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Wifi</a:t>
            </a: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 -Bluetooth -2x USB 3.1 -HDMI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9440" y="5516751"/>
            <a:ext cx="26581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427 300 FCFA TTC </a:t>
            </a:r>
          </a:p>
        </p:txBody>
      </p:sp>
      <p:sp>
        <p:nvSpPr>
          <p:cNvPr id="10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24069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49580" y="857712"/>
            <a:ext cx="878526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PC HP 250 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i3-1005G1</a:t>
            </a:r>
            <a:endParaRPr lang="en-US" sz="2004" b="1" spc="-4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RI2514417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00600" y="5254823"/>
            <a:ext cx="305227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441 758 FCFA HT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0377" y="1420773"/>
            <a:ext cx="3843023" cy="4226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</a:rPr>
              <a:t>windows 10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famille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i3-1005G1</a:t>
            </a:r>
          </a:p>
          <a:p>
            <a:pPr>
              <a:lnSpc>
                <a:spcPts val="3240"/>
              </a:lnSpc>
            </a:pPr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HD LED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SATA</a:t>
            </a:r>
            <a:r>
              <a:rPr lang="en-US" dirty="0"/>
              <a:t> 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COULEUR</a:t>
            </a: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Noir </a:t>
            </a: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Avec sacoche </a:t>
            </a:r>
            <a:endParaRPr lang="en-US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66691" y="5467290"/>
            <a:ext cx="26581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521 275 FCFA TTC </a:t>
            </a:r>
          </a:p>
        </p:txBody>
      </p:sp>
      <p:pic>
        <p:nvPicPr>
          <p:cNvPr id="2050" name="Picture 2" descr="HP 250 G10 15 Inch Notebook PC DF DarkAsh NT HDcam FPR Catalog VisID GrayBG Fro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2" y="2209800"/>
            <a:ext cx="5580063" cy="41850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28"/>
          <p:cNvSpPr txBox="1"/>
          <p:nvPr/>
        </p:nvSpPr>
        <p:spPr>
          <a:xfrm>
            <a:off x="8192728" y="5503862"/>
            <a:ext cx="3694472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STOCK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au TOGO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11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32024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49580" y="857712"/>
            <a:ext cx="878526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HP Laptop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250 i5-1335U G10 FREEDOS3.0</a:t>
            </a:r>
            <a:endParaRPr lang="en-US" sz="2004" b="1" spc="-4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RI2512385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95674" y="5550694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800600" y="5254823"/>
            <a:ext cx="305227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454 227 FCFA HT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0377" y="1420773"/>
            <a:ext cx="3843023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i5-1335U </a:t>
            </a:r>
          </a:p>
          <a:p>
            <a:pPr>
              <a:lnSpc>
                <a:spcPts val="3240"/>
              </a:lnSpc>
            </a:pPr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SSD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NVMe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™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®</a:t>
            </a:r>
            <a:r>
              <a:rPr lang="en-US" dirty="0"/>
              <a:t> 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Ports &amp; wifi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1xUSB Type-C®, 5 Gbit/s; 2xUSB Type-A; 1 prise d’alimentation secteur; 1xHDMI 1.4b; 1 prise combinée casque/microphone stéréo, </a:t>
            </a:r>
            <a:r>
              <a:rPr lang="fr-FR" dirty="0" err="1">
                <a:solidFill>
                  <a:srgbClr val="4C5771"/>
                </a:solidFill>
                <a:latin typeface="-apple-system"/>
              </a:rPr>
              <a:t>WiFi</a:t>
            </a:r>
            <a:r>
              <a:rPr lang="fr-FR" dirty="0">
                <a:solidFill>
                  <a:srgbClr val="4C5771"/>
                </a:solidFill>
                <a:latin typeface="-apple-system"/>
              </a:rPr>
              <a:t> 6+BT</a:t>
            </a:r>
            <a:endParaRPr lang="en-US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66691" y="5467290"/>
            <a:ext cx="26581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535 988 FCFA TTC </a:t>
            </a:r>
          </a:p>
        </p:txBody>
      </p:sp>
      <p:pic>
        <p:nvPicPr>
          <p:cNvPr id="2050" name="Picture 2" descr="HP 250 G10 15 Inch Notebook PC DF DarkAsh NT HDcam FPR Catalog VisID GrayBG Fro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2" y="2209800"/>
            <a:ext cx="5580063" cy="41850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93119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C Portable Professionnel HP ProBook 450 G10,15,6&quot;  - Garantie 3 ans incl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6321425" cy="464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49580" y="857712"/>
            <a:ext cx="8785260" cy="66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HP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</a:t>
            </a:r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PB450G10 i5-1334U 14 16GB/512 PC </a:t>
            </a:r>
            <a:endParaRPr lang="en-US" sz="2004" b="1" spc="-4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</a:endParaRP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RI2514421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95674" y="4895893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486400" y="4922440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467 952 FCFA 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6197" y="2369625"/>
            <a:ext cx="5478968" cy="2575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i5-1334U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14" 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16GB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512GB SSD</a:t>
            </a:r>
            <a:endParaRPr lang="en-US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08589" y="5162490"/>
            <a:ext cx="26581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552 184 FCFA TTC </a:t>
            </a:r>
          </a:p>
        </p:txBody>
      </p:sp>
      <p:sp>
        <p:nvSpPr>
          <p:cNvPr id="10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5279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C Portable Professionnel HP ProBook 450 G10 15,6&quot;  - Garantie 3 ans incl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" y="1828800"/>
            <a:ext cx="6385269" cy="468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49580" y="857712"/>
            <a:ext cx="878526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HP Laptop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450 G10 i5-1335U FREEDOS</a:t>
            </a:r>
            <a:endParaRPr lang="en-US" sz="2004" b="1" spc="-4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RI2512386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95674" y="5181600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495291" y="5254823"/>
            <a:ext cx="305227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548 290 FCFA HT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0377" y="1995368"/>
            <a:ext cx="3843023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i5-1335U </a:t>
            </a:r>
          </a:p>
          <a:p>
            <a:pPr>
              <a:lnSpc>
                <a:spcPts val="3240"/>
              </a:lnSpc>
            </a:pPr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SSD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NVMe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™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®</a:t>
            </a:r>
            <a:r>
              <a:rPr lang="en-US" dirty="0"/>
              <a:t> 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Ports &amp; wifi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 err="1">
                <a:solidFill>
                  <a:srgbClr val="4C5771"/>
                </a:solidFill>
                <a:latin typeface="-apple-system"/>
              </a:rPr>
              <a:t>WiFi</a:t>
            </a:r>
            <a:r>
              <a:rPr lang="fr-FR" dirty="0">
                <a:solidFill>
                  <a:srgbClr val="4C5771"/>
                </a:solidFill>
                <a:latin typeface="-apple-system"/>
              </a:rPr>
              <a:t> +BT</a:t>
            </a:r>
            <a:endParaRPr lang="en-US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52491" y="5467290"/>
            <a:ext cx="26581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646 982 FCFA TTC </a:t>
            </a:r>
          </a:p>
        </p:txBody>
      </p:sp>
    </p:spTree>
    <p:extLst>
      <p:ext uri="{BB962C8B-B14F-4D97-AF65-F5344CB8AC3E}">
        <p14:creationId xmlns:p14="http://schemas.microsoft.com/office/powerpoint/2010/main" val="510382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PC portable HP PAV 16 U5 8GB 512SSD DOS 1Y (AY2U2EA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4" t="15869" r="9731" b="13512"/>
          <a:stretch/>
        </p:blipFill>
        <p:spPr bwMode="auto">
          <a:xfrm>
            <a:off x="-23625" y="1435608"/>
            <a:ext cx="6348225" cy="54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81000" y="857712"/>
            <a:ext cx="9251172" cy="693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HP Pavilion U5-125U 16'' 8Go/512Go Wifi6+BT Freedos Natural Silver</a:t>
            </a:r>
            <a:r>
              <a:rPr lang="fr-FR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</a:p>
          <a:p>
            <a:pPr>
              <a:lnSpc>
                <a:spcPts val="2805"/>
              </a:lnSpc>
            </a:pPr>
            <a:r>
              <a:rPr lang="fr-FR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RI2511258</a:t>
            </a:r>
            <a:endParaRPr lang="en-US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16079" y="4682440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554 276 FCFA HT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2367677"/>
            <a:ext cx="384302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Freedos</a:t>
            </a: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r>
              <a:rPr lang="en-US" spc="-3" dirty="0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U5-125U</a:t>
            </a:r>
            <a:r>
              <a:rPr lang="en-US" spc="-3" dirty="0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DDR5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SSD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Wifi6+BT Natural silver</a:t>
            </a:r>
            <a:endParaRPr lang="en-US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7000" y="4877193"/>
            <a:ext cx="16877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654 046 FCFA TTC</a:t>
            </a:r>
          </a:p>
        </p:txBody>
      </p:sp>
      <p:sp>
        <p:nvSpPr>
          <p:cNvPr id="11" name="TextBox 20"/>
          <p:cNvSpPr txBox="1"/>
          <p:nvPr/>
        </p:nvSpPr>
        <p:spPr>
          <a:xfrm>
            <a:off x="8534400" y="4953000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068926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https://dakarstock.com/wp-content/uploads/2024/12/hp-probook-440-g10-i5-ordinateur-portable-85b62ea-2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9" t="9764" r="2998" b="8881"/>
          <a:stretch/>
        </p:blipFill>
        <p:spPr bwMode="auto">
          <a:xfrm>
            <a:off x="488616" y="949736"/>
            <a:ext cx="6641382" cy="575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164BCE1-8DD9-3CEC-3A08-0BF7294B443E}"/>
              </a:ext>
            </a:extLst>
          </p:cNvPr>
          <p:cNvSpPr txBox="1"/>
          <p:nvPr/>
        </p:nvSpPr>
        <p:spPr>
          <a:xfrm>
            <a:off x="488616" y="762000"/>
            <a:ext cx="39587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4C5771"/>
                </a:solidFill>
                <a:latin typeface="-apple-system"/>
              </a:rPr>
              <a:t>HP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Probook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450 G10 (816N8EA) </a:t>
            </a: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</a:rPr>
              <a:t>RI2512376</a:t>
            </a:r>
            <a:r>
              <a:rPr lang="en-US" sz="1200" b="1" dirty="0">
                <a:solidFill>
                  <a:srgbClr val="4C5771"/>
                </a:solidFill>
                <a:latin typeface="-apple-system"/>
              </a:rPr>
              <a:t> </a:t>
            </a:r>
            <a:endParaRPr lang="fr-FR" sz="1200" b="1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55504" y="1498343"/>
            <a:ext cx="6355496" cy="5295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1400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sz="1400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sz="1400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sz="1400" b="1" dirty="0">
              <a:solidFill>
                <a:srgbClr val="4C5771"/>
              </a:solidFill>
              <a:latin typeface="-apple-system"/>
            </a:endParaRPr>
          </a:p>
          <a:p>
            <a:pPr lvl="0" algn="r">
              <a:lnSpc>
                <a:spcPct val="115000"/>
              </a:lnSpc>
            </a:pPr>
            <a:r>
              <a:rPr lang="en-US" sz="1400" dirty="0">
                <a:solidFill>
                  <a:srgbClr val="4C5771"/>
                </a:solidFill>
                <a:latin typeface="-apple-system"/>
              </a:rPr>
              <a:t>Windows 11 Pro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authentique</a:t>
            </a:r>
            <a:endParaRPr lang="en-US" sz="1400" dirty="0">
              <a:solidFill>
                <a:srgbClr val="4C5771"/>
              </a:solidFill>
              <a:latin typeface="-apple-system"/>
            </a:endParaRPr>
          </a:p>
          <a:p>
            <a:pPr algn="r">
              <a:lnSpc>
                <a:spcPct val="115000"/>
              </a:lnSpc>
            </a:pPr>
            <a:r>
              <a:rPr lang="en-US" sz="1400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sz="1400" dirty="0"/>
          </a:p>
          <a:p>
            <a:pPr algn="r">
              <a:lnSpc>
                <a:spcPct val="115000"/>
              </a:lnSpc>
            </a:pPr>
            <a:r>
              <a:rPr lang="fr-FR" sz="1400" dirty="0">
                <a:solidFill>
                  <a:srgbClr val="4C5771"/>
                </a:solidFill>
                <a:latin typeface="-apple-system"/>
              </a:rPr>
              <a:t>Intel </a:t>
            </a:r>
            <a:r>
              <a:rPr lang="fr-FR" sz="1400" dirty="0" err="1">
                <a:solidFill>
                  <a:srgbClr val="4C5771"/>
                </a:solidFill>
                <a:latin typeface="-apple-system"/>
              </a:rPr>
              <a:t>Core</a:t>
            </a:r>
            <a:r>
              <a:rPr lang="fr-FR" sz="1400" dirty="0">
                <a:solidFill>
                  <a:srgbClr val="4C5771"/>
                </a:solidFill>
                <a:latin typeface="-apple-system"/>
              </a:rPr>
              <a:t> i5-1335U 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1.3 GHZ de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vitesse</a:t>
            </a:r>
            <a:endParaRPr lang="en-US" sz="1400" dirty="0">
              <a:solidFill>
                <a:srgbClr val="4C5771"/>
              </a:solidFill>
              <a:latin typeface="-apple-system"/>
            </a:endParaRPr>
          </a:p>
          <a:p>
            <a:pPr algn="r">
              <a:lnSpc>
                <a:spcPct val="115000"/>
              </a:lnSpc>
            </a:pPr>
            <a:r>
              <a:rPr lang="en-US" sz="1400" dirty="0">
                <a:solidFill>
                  <a:srgbClr val="4C5771"/>
                </a:solidFill>
                <a:latin typeface="-apple-system"/>
              </a:rPr>
              <a:t> de base (4.6 GHZ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en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mode turbo)</a:t>
            </a:r>
          </a:p>
          <a:p>
            <a:pPr algn="r">
              <a:lnSpc>
                <a:spcPct val="115000"/>
              </a:lnSpc>
            </a:pPr>
            <a:r>
              <a:rPr lang="fr-FR" sz="1400" b="1" dirty="0">
                <a:solidFill>
                  <a:srgbClr val="4C5771"/>
                </a:solidFill>
                <a:latin typeface="-apple-system"/>
              </a:rPr>
              <a:t>Clavier</a:t>
            </a:r>
          </a:p>
          <a:p>
            <a:pPr algn="r">
              <a:lnSpc>
                <a:spcPct val="115000"/>
              </a:lnSpc>
            </a:pPr>
            <a:r>
              <a:rPr lang="fr-FR" sz="1400" dirty="0"/>
              <a:t> 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clavier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lumineux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et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français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d'origine</a:t>
            </a:r>
            <a:endParaRPr lang="en-US" sz="1400" dirty="0">
              <a:solidFill>
                <a:srgbClr val="4C5771"/>
              </a:solidFill>
              <a:latin typeface="-apple-system"/>
            </a:endParaRPr>
          </a:p>
          <a:p>
            <a:pPr lvl="0" algn="r">
              <a:lnSpc>
                <a:spcPct val="115000"/>
              </a:lnSpc>
            </a:pPr>
            <a:r>
              <a:rPr lang="fr-FR" sz="1400" b="1" dirty="0">
                <a:solidFill>
                  <a:srgbClr val="4C5771"/>
                </a:solidFill>
                <a:latin typeface="-apple-system"/>
              </a:rPr>
              <a:t>RAM</a:t>
            </a:r>
            <a:r>
              <a:rPr lang="fr-FR" sz="1400" dirty="0"/>
              <a:t> </a:t>
            </a:r>
          </a:p>
          <a:p>
            <a:pPr lvl="0" algn="r">
              <a:lnSpc>
                <a:spcPct val="115000"/>
              </a:lnSpc>
            </a:pPr>
            <a:r>
              <a:rPr lang="en-US" sz="1400" dirty="0">
                <a:solidFill>
                  <a:srgbClr val="4C5771"/>
                </a:solidFill>
                <a:latin typeface="-apple-system"/>
              </a:rPr>
              <a:t>8GB </a:t>
            </a:r>
          </a:p>
          <a:p>
            <a:pPr algn="r">
              <a:lnSpc>
                <a:spcPct val="115000"/>
              </a:lnSpc>
            </a:pPr>
            <a:r>
              <a:rPr lang="en-US" sz="1400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sz="1400" b="1" dirty="0">
              <a:solidFill>
                <a:srgbClr val="4C5771"/>
              </a:solidFill>
              <a:latin typeface="-apple-system"/>
            </a:endParaRPr>
          </a:p>
          <a:p>
            <a:pPr algn="r">
              <a:lnSpc>
                <a:spcPct val="115000"/>
              </a:lnSpc>
            </a:pPr>
            <a:r>
              <a:rPr lang="en-US" sz="1400" dirty="0">
                <a:solidFill>
                  <a:srgbClr val="4C5771"/>
                </a:solidFill>
                <a:latin typeface="-apple-system"/>
              </a:rPr>
              <a:t>512GB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NVMe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</a:t>
            </a:r>
          </a:p>
          <a:p>
            <a:pPr lvl="0" algn="r">
              <a:lnSpc>
                <a:spcPct val="115000"/>
              </a:lnSpc>
            </a:pPr>
            <a:r>
              <a:rPr lang="fr-SN" sz="1400" b="1" dirty="0">
                <a:solidFill>
                  <a:srgbClr val="4C5771"/>
                </a:solidFill>
                <a:latin typeface="-apple-system"/>
              </a:rPr>
              <a:t>Écran</a:t>
            </a:r>
            <a:r>
              <a:rPr lang="fr-SN" sz="1400" dirty="0"/>
              <a:t> </a:t>
            </a:r>
          </a:p>
          <a:p>
            <a:pPr lvl="0" algn="r">
              <a:lnSpc>
                <a:spcPct val="115000"/>
              </a:lnSpc>
            </a:pPr>
            <a:r>
              <a:rPr lang="en-US" sz="1400" dirty="0">
                <a:solidFill>
                  <a:srgbClr val="4C5771"/>
                </a:solidFill>
                <a:latin typeface="-apple-system"/>
              </a:rPr>
              <a:t>15.6" Full HD (1920x1080) à 60 Hz,</a:t>
            </a:r>
          </a:p>
          <a:p>
            <a:pPr lvl="0" algn="r">
              <a:lnSpc>
                <a:spcPct val="115000"/>
              </a:lnSpc>
            </a:pPr>
            <a:r>
              <a:rPr lang="en-US" sz="1400" dirty="0">
                <a:solidFill>
                  <a:srgbClr val="4C5771"/>
                </a:solidFill>
                <a:latin typeface="-apple-system"/>
              </a:rPr>
              <a:t> format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d'affichage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16:9, webcam HD 720p, </a:t>
            </a:r>
          </a:p>
          <a:p>
            <a:pPr lvl="0" algn="r">
              <a:lnSpc>
                <a:spcPct val="115000"/>
              </a:lnSpc>
            </a:pP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wifi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6ax211 dual band</a:t>
            </a:r>
          </a:p>
          <a:p>
            <a:pPr lvl="0" algn="r">
              <a:lnSpc>
                <a:spcPct val="115000"/>
              </a:lnSpc>
            </a:pPr>
            <a:r>
              <a:rPr lang="fr-FR" sz="1400" b="1" dirty="0">
                <a:solidFill>
                  <a:srgbClr val="4C5771"/>
                </a:solidFill>
                <a:latin typeface="-apple-system"/>
              </a:rPr>
              <a:t>Ports</a:t>
            </a:r>
          </a:p>
          <a:p>
            <a:pPr lvl="0" algn="r">
              <a:lnSpc>
                <a:spcPct val="115000"/>
              </a:lnSpc>
            </a:pPr>
            <a:r>
              <a:rPr lang="en-US" sz="1400" dirty="0">
                <a:solidFill>
                  <a:srgbClr val="4C5771"/>
                </a:solidFill>
                <a:latin typeface="-apple-system"/>
              </a:rPr>
              <a:t>HDMI 2.1b, 2x USB 3.2 Gen 1 type-A, 1xUSB 3.2 Gen 1 type-C,1xRJ45,</a:t>
            </a:r>
          </a:p>
          <a:p>
            <a:pPr lvl="0" algn="r">
              <a:lnSpc>
                <a:spcPct val="115000"/>
              </a:lnSpc>
            </a:pPr>
            <a:r>
              <a:rPr lang="en-US" sz="1400" dirty="0">
                <a:solidFill>
                  <a:srgbClr val="4C5771"/>
                </a:solidFill>
                <a:latin typeface="-apple-system"/>
              </a:rPr>
              <a:t> pas de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lecteur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DVD,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lecteur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de carte SD,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lecteur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d'empreintes</a:t>
            </a:r>
            <a:r>
              <a:rPr lang="en-US" sz="1400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sz="1400" dirty="0" err="1">
                <a:solidFill>
                  <a:srgbClr val="4C5771"/>
                </a:solidFill>
                <a:latin typeface="-apple-system"/>
              </a:rPr>
              <a:t>digitales</a:t>
            </a:r>
            <a:endParaRPr lang="en-US" sz="1400" dirty="0">
              <a:solidFill>
                <a:srgbClr val="4C5771"/>
              </a:solidFill>
              <a:latin typeface="-apple-system"/>
            </a:endParaRPr>
          </a:p>
          <a:p>
            <a:pPr lvl="0" algn="r">
              <a:lnSpc>
                <a:spcPct val="115000"/>
              </a:lnSpc>
            </a:pPr>
            <a:r>
              <a:rPr lang="fr-FR" sz="1400" b="1" dirty="0">
                <a:solidFill>
                  <a:srgbClr val="4C5771"/>
                </a:solidFill>
                <a:latin typeface="-apple-system"/>
              </a:rPr>
              <a:t>Norme CE</a:t>
            </a:r>
          </a:p>
          <a:p>
            <a:pPr lvl="0" algn="r">
              <a:lnSpc>
                <a:spcPct val="115000"/>
              </a:lnSpc>
            </a:pPr>
            <a:r>
              <a:rPr lang="fr-FR" sz="1400" b="1" dirty="0">
                <a:solidFill>
                  <a:srgbClr val="4C5771"/>
                </a:solidFill>
                <a:latin typeface="-apple-system"/>
              </a:rPr>
              <a:t>Stock disponible au Bénin</a:t>
            </a:r>
            <a:endParaRPr lang="en-US" sz="1400" b="1" dirty="0">
              <a:solidFill>
                <a:srgbClr val="4C5771"/>
              </a:solidFill>
              <a:latin typeface="-apple-system"/>
            </a:endParaRPr>
          </a:p>
          <a:p>
            <a:pPr algn="r">
              <a:lnSpc>
                <a:spcPct val="115000"/>
              </a:lnSpc>
            </a:pPr>
            <a:r>
              <a:rPr lang="fr-FR" sz="1400" b="1" dirty="0">
                <a:solidFill>
                  <a:srgbClr val="4C5771"/>
                </a:solidFill>
                <a:latin typeface="-apple-system"/>
              </a:rPr>
              <a:t>Garanties : 01 an</a:t>
            </a:r>
            <a:endParaRPr lang="en-US" sz="1400" b="1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C37E963-CCAC-2996-793D-141762B7998C}"/>
              </a:ext>
            </a:extLst>
          </p:cNvPr>
          <p:cNvSpPr txBox="1"/>
          <p:nvPr/>
        </p:nvSpPr>
        <p:spPr>
          <a:xfrm>
            <a:off x="-1143000" y="1681329"/>
            <a:ext cx="5181602" cy="40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</a:rPr>
              <a:t>560 000 </a:t>
            </a: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</a:rPr>
              <a:t>FCFA HT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C37E963-CCAC-2996-793D-141762B7998C}"/>
              </a:ext>
            </a:extLst>
          </p:cNvPr>
          <p:cNvSpPr txBox="1"/>
          <p:nvPr/>
        </p:nvSpPr>
        <p:spPr>
          <a:xfrm>
            <a:off x="381000" y="2184712"/>
            <a:ext cx="167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</a:rPr>
              <a:t>660 800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</a:rPr>
              <a:t>FCFA TTC</a:t>
            </a:r>
          </a:p>
        </p:txBody>
      </p:sp>
      <p:sp>
        <p:nvSpPr>
          <p:cNvPr id="15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28600" y="1981200"/>
            <a:ext cx="6574536" cy="4609580"/>
          </a:xfrm>
          <a:custGeom>
            <a:avLst/>
            <a:gdLst/>
            <a:ahLst/>
            <a:cxnLst/>
            <a:rect l="l" t="t" r="r" b="b"/>
            <a:pathLst>
              <a:path w="5612892" h="3599688">
                <a:moveTo>
                  <a:pt x="0" y="0"/>
                </a:moveTo>
                <a:lnTo>
                  <a:pt x="5612892" y="0"/>
                </a:lnTo>
                <a:lnTo>
                  <a:pt x="5612892" y="3599688"/>
                </a:lnTo>
                <a:lnTo>
                  <a:pt x="0" y="3599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81279" y="850725"/>
            <a:ext cx="828172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ORDINATEUR PORTABLE HP 250 G8 i5-1035G1 HD 8Go/1To    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RI2511355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92169" y="4470863"/>
            <a:ext cx="2532631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565 000 FCFA HT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183" y="1798792"/>
            <a:ext cx="3843023" cy="3129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 Bold"/>
              </a:rPr>
              <a:t>Windows 11 home 64 bits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 Bold"/>
              </a:rPr>
              <a:t>Intel® Core™ i5-1035G1</a:t>
            </a:r>
          </a:p>
          <a:p>
            <a:pPr>
              <a:lnSpc>
                <a:spcPts val="3240"/>
              </a:lnSpc>
            </a:pPr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15" 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1To SATA Intel UHD Graphics</a:t>
            </a:r>
            <a:r>
              <a:rPr lang="en-US" sz="1400" dirty="0">
                <a:solidFill>
                  <a:srgbClr val="4C5771"/>
                </a:solidFill>
                <a:latin typeface="-apple-system"/>
                <a:sym typeface="IBM Plex Sans Condensed Bold"/>
              </a:rPr>
              <a:t> </a:t>
            </a:r>
            <a:endParaRPr lang="en-US" sz="1400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56030" y="4705290"/>
            <a:ext cx="16877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666 700 FCFA TTC </a:t>
            </a:r>
          </a:p>
        </p:txBody>
      </p:sp>
      <p:sp>
        <p:nvSpPr>
          <p:cNvPr id="10" name="TextBox 28"/>
          <p:cNvSpPr txBox="1"/>
          <p:nvPr/>
        </p:nvSpPr>
        <p:spPr>
          <a:xfrm>
            <a:off x="8458200" y="4876800"/>
            <a:ext cx="3694472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STOCK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au TOGO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11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39396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7730" y="2311764"/>
            <a:ext cx="5570113" cy="3403235"/>
          </a:xfrm>
          <a:custGeom>
            <a:avLst/>
            <a:gdLst/>
            <a:ahLst/>
            <a:cxnLst/>
            <a:rect l="l" t="t" r="r" b="b"/>
            <a:pathLst>
              <a:path w="5280660" h="3332988">
                <a:moveTo>
                  <a:pt x="0" y="0"/>
                </a:moveTo>
                <a:lnTo>
                  <a:pt x="5280660" y="0"/>
                </a:lnTo>
                <a:lnTo>
                  <a:pt x="5280660" y="3332988"/>
                </a:lnTo>
                <a:lnTo>
                  <a:pt x="0" y="333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96040" y="833118"/>
            <a:ext cx="928136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HP PROBOOK 450 G8 -15.6" -CORE I7 -1165G7 -8GO RAM –512GOSSD 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RI2511356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41042" y="4755598"/>
            <a:ext cx="256336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1 426 900 FCFA 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8977" y="1546939"/>
            <a:ext cx="3843023" cy="3406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 Bold"/>
              </a:rPr>
              <a:t>Windows 10 Pro clavier AZERTY </a:t>
            </a:r>
            <a:r>
              <a:rPr lang="en-US" dirty="0" err="1">
                <a:solidFill>
                  <a:srgbClr val="4C5771"/>
                </a:solidFill>
                <a:latin typeface="-apple-system"/>
                <a:sym typeface="IBM Plex Sans Condensed Bold"/>
              </a:rPr>
              <a:t>rétroéclairé</a:t>
            </a:r>
            <a:endParaRPr lang="en-US" dirty="0">
              <a:solidFill>
                <a:srgbClr val="4C5771"/>
              </a:solidFill>
              <a:latin typeface="-apple-system"/>
              <a:sym typeface="IBM Plex Sans Condensed Bold"/>
            </a:endParaRP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 Bold"/>
              </a:rPr>
              <a:t>Intel® Core™ i7-1165G7</a:t>
            </a:r>
          </a:p>
          <a:p>
            <a:pPr>
              <a:lnSpc>
                <a:spcPts val="3240"/>
              </a:lnSpc>
            </a:pPr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15.6" Full 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16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Go SSD</a:t>
            </a:r>
            <a:endParaRPr lang="en-US" sz="1400" dirty="0">
              <a:solidFill>
                <a:srgbClr val="4C5771"/>
              </a:solidFill>
              <a:latin typeface="-apple-syste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62091" y="4981823"/>
            <a:ext cx="1848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1 683 742 FCFA  TTC</a:t>
            </a:r>
          </a:p>
        </p:txBody>
      </p:sp>
      <p:sp>
        <p:nvSpPr>
          <p:cNvPr id="4" name="Freeform 4"/>
          <p:cNvSpPr/>
          <p:nvPr/>
        </p:nvSpPr>
        <p:spPr>
          <a:xfrm>
            <a:off x="4082539" y="1757690"/>
            <a:ext cx="4266438" cy="2679350"/>
          </a:xfrm>
          <a:custGeom>
            <a:avLst/>
            <a:gdLst/>
            <a:ahLst/>
            <a:cxnLst/>
            <a:rect l="l" t="t" r="r" b="b"/>
            <a:pathLst>
              <a:path w="3406140" h="2090928">
                <a:moveTo>
                  <a:pt x="0" y="0"/>
                </a:moveTo>
                <a:lnTo>
                  <a:pt x="3406140" y="0"/>
                </a:lnTo>
                <a:lnTo>
                  <a:pt x="3406140" y="2090928"/>
                </a:lnTo>
                <a:lnTo>
                  <a:pt x="0" y="2090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28"/>
          <p:cNvSpPr txBox="1"/>
          <p:nvPr/>
        </p:nvSpPr>
        <p:spPr>
          <a:xfrm>
            <a:off x="8458200" y="4876800"/>
            <a:ext cx="3694472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 CE &amp; Garantie : 12 Mois  </a:t>
            </a:r>
            <a:r>
              <a:rPr lang="en-US" b="1" spc="-3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STOCK disponible au TOGO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11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2" descr="Lenovo Unlocks New AI PC Experiences with ThinkPad and IdeaPad Laptops  Powered by Intel Core Ultra Processors - Lenovo StoryHub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84" t="8604" b="10737"/>
          <a:stretch/>
        </p:blipFill>
        <p:spPr bwMode="auto">
          <a:xfrm>
            <a:off x="2590801" y="1636159"/>
            <a:ext cx="6800520" cy="531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29" y="509757"/>
            <a:ext cx="3236935" cy="11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42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463448"/>
              </p:ext>
            </p:extLst>
          </p:nvPr>
        </p:nvGraphicFramePr>
        <p:xfrm>
          <a:off x="723894" y="1738853"/>
          <a:ext cx="11085067" cy="506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0741">
                  <a:extLst>
                    <a:ext uri="{9D8B030D-6E8A-4147-A177-3AD203B41FA5}">
                      <a16:colId xmlns:a16="http://schemas.microsoft.com/office/drawing/2014/main" val="2192080174"/>
                    </a:ext>
                  </a:extLst>
                </a:gridCol>
                <a:gridCol w="1450365">
                  <a:extLst>
                    <a:ext uri="{9D8B030D-6E8A-4147-A177-3AD203B41FA5}">
                      <a16:colId xmlns:a16="http://schemas.microsoft.com/office/drawing/2014/main" val="3755772196"/>
                    </a:ext>
                  </a:extLst>
                </a:gridCol>
                <a:gridCol w="2283961">
                  <a:extLst>
                    <a:ext uri="{9D8B030D-6E8A-4147-A177-3AD203B41FA5}">
                      <a16:colId xmlns:a16="http://schemas.microsoft.com/office/drawing/2014/main" val="835553489"/>
                    </a:ext>
                  </a:extLst>
                </a:gridCol>
              </a:tblGrid>
              <a:tr h="36547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DESIGNATION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PU HT FCFA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Disponibilité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653128"/>
                  </a:ext>
                </a:extLst>
              </a:tr>
              <a:tr h="8540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pc="-4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IBM Plex Sans Condensed Bold"/>
                          <a:ea typeface="IBM Plex Sans Condensed Bold"/>
                          <a:cs typeface="IBM Plex Sans Condensed Bold"/>
                        </a:rPr>
                        <a:t>RI2512384</a:t>
                      </a:r>
                      <a:endParaRPr lang="fr-FR" sz="1000" b="1" spc="-4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IBM Plex Sans Condensed Bold"/>
                        <a:ea typeface="IBM Plex Sans Condensed Bold"/>
                        <a:cs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ThinkBook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 14 G2 i5-1135G7 1To SSD 8Go DDR4 FREEDOS</a:t>
                      </a: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357 200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  <a:sym typeface="IBM Plex Sans Condensed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858124"/>
                  </a:ext>
                </a:extLst>
              </a:tr>
              <a:tr h="8540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pc="-4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IBM Plex Sans Condensed Bold"/>
                          <a:ea typeface="IBM Plex Sans Condensed Bold"/>
                          <a:cs typeface="IBM Plex Sans Condensed Bold"/>
                          <a:sym typeface="IBM Plex Sans Condensed Bold"/>
                        </a:rPr>
                        <a:t>RI2511231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ThinkBook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16 G6 IRL 512 SSD M.2 2242 </a:t>
                      </a: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PCIe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Gen4 TLC 8Go DDR5</a:t>
                      </a:r>
                      <a:r>
                        <a:rPr lang="en-US" sz="1800" kern="1200" baseline="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FREEDOS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507 050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422141"/>
                  </a:ext>
                </a:extLst>
              </a:tr>
              <a:tr h="8540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spc="-4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IBM Plex Sans Condensed Bold"/>
                          <a:ea typeface="IBM Plex Sans Condensed Bold"/>
                          <a:cs typeface="IBM Plex Sans Condensed Bold"/>
                        </a:rPr>
                        <a:t>RI2511232</a:t>
                      </a:r>
                      <a:endParaRPr lang="fr-FR" sz="1000" b="1" kern="1200" spc="-4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IBM Plex Sans Condensed Bold"/>
                        <a:ea typeface="IBM Plex Sans Condensed Bold"/>
                        <a:cs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ThinkBook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14 G7  512 SSD M.2 2242 </a:t>
                      </a: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PCIe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Gen4 TLC 8Go DDR5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521 965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050012"/>
                  </a:ext>
                </a:extLst>
              </a:tr>
              <a:tr h="8540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spc="-4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IBM Plex Sans Condensed Bold"/>
                          <a:ea typeface="IBM Plex Sans Condensed Bold"/>
                          <a:cs typeface="IBM Plex Sans Condensed Bold"/>
                        </a:rPr>
                        <a:t>RI2512383</a:t>
                      </a:r>
                      <a:endParaRPr lang="fr-FR" sz="1000" b="1" kern="1200" spc="-4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IBM Plex Sans Condensed Bold"/>
                        <a:ea typeface="IBM Plex Sans Condensed Bold"/>
                        <a:cs typeface="IBM Plex Sans Condensed Bol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ThinkBook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 16 WUXGA U5-125U 8Go DDR5 256Go SSD M.2 2242 </a:t>
                      </a:r>
                      <a:r>
                        <a:rPr lang="en-US" sz="1800" kern="1200" dirty="0" err="1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PCIe</a:t>
                      </a: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 Gen4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  <a:sym typeface="Garamond Bold"/>
                        </a:rPr>
                        <a:t>530 496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 FRANCE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199975"/>
                  </a:ext>
                </a:extLst>
              </a:tr>
              <a:tr h="5614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spc="-4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IBM Plex Sans Condensed Bold"/>
                          <a:ea typeface="IBM Plex Sans Condensed Bold"/>
                          <a:cs typeface="IBM Plex Sans Condensed Bold"/>
                        </a:rPr>
                        <a:t>RI2511294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IDEAPAD 3 14ITL6   8Go DDR4 250Go SSD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</a:rPr>
                        <a:t>625 214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 BENIN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503603"/>
                  </a:ext>
                </a:extLst>
              </a:tr>
              <a:tr h="5614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RI2511354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</a:rPr>
                        <a:t>LENOVO IP 3 I5ALC6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-apple-system"/>
                          <a:ea typeface="+mn-ea"/>
                          <a:cs typeface="+mn-cs"/>
                        </a:rPr>
                        <a:t>635 000</a:t>
                      </a: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4C5771"/>
                          </a:solidFill>
                          <a:latin typeface="-apple-system"/>
                          <a:ea typeface="+mn-ea"/>
                          <a:cs typeface="+mn-cs"/>
                          <a:sym typeface="IBM Plex Sans Condensed Bold"/>
                        </a:rPr>
                        <a:t>STOCK  TOGO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4C5771"/>
                        </a:solidFill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046676"/>
                  </a:ext>
                </a:extLst>
              </a:tr>
            </a:tbl>
          </a:graphicData>
        </a:graphic>
      </p:graphicFrame>
      <p:sp>
        <p:nvSpPr>
          <p:cNvPr id="5" name="TextBox 19"/>
          <p:cNvSpPr txBox="1"/>
          <p:nvPr/>
        </p:nvSpPr>
        <p:spPr>
          <a:xfrm>
            <a:off x="1474770" y="1371036"/>
            <a:ext cx="878526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fr-FR" sz="2000" b="1" spc="-4" dirty="0"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Liste des ordinateurs portables LENOVO</a:t>
            </a:r>
            <a:endParaRPr lang="en-US" sz="2000" b="1" spc="-4" dirty="0"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777354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52600" y="857712"/>
            <a:ext cx="8762892" cy="673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004" b="1" spc="-4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ThinkBook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 14 G2 i5-1135G7 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</a:rPr>
              <a:t>RI2512384</a:t>
            </a:r>
            <a:endParaRPr lang="fr-FR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75605" y="5390231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357 200 FCFA HT</a:t>
            </a:r>
          </a:p>
        </p:txBody>
      </p:sp>
      <p:sp>
        <p:nvSpPr>
          <p:cNvPr id="4" name="Rectangle 3"/>
          <p:cNvSpPr/>
          <p:nvPr/>
        </p:nvSpPr>
        <p:spPr>
          <a:xfrm>
            <a:off x="8348977" y="2499479"/>
            <a:ext cx="38430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FREE DOS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Intel</a:t>
            </a:r>
            <a:r>
              <a:rPr lang="en-US" baseline="30000" dirty="0">
                <a:solidFill>
                  <a:srgbClr val="4C5771"/>
                </a:solidFill>
                <a:latin typeface="-apple-system"/>
              </a:rPr>
              <a:t>®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 Core™ i5-1135G7 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Ecran</a:t>
            </a: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14’’ FHD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1To SSD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65" y="748248"/>
            <a:ext cx="1408135" cy="4932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53200" y="5599142"/>
            <a:ext cx="16284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421 496 FCFA TTC</a:t>
            </a:r>
          </a:p>
        </p:txBody>
      </p:sp>
      <p:sp>
        <p:nvSpPr>
          <p:cNvPr id="12" name="TextBox 20"/>
          <p:cNvSpPr txBox="1"/>
          <p:nvPr/>
        </p:nvSpPr>
        <p:spPr>
          <a:xfrm>
            <a:off x="8500474" y="5390231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pic>
        <p:nvPicPr>
          <p:cNvPr id="1026" name="Picture 2" descr="https://m.media-amazon.com/images/I/61p-yRoLMCL._AC_SL1500_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32" y="2209800"/>
            <a:ext cx="4889485" cy="4086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729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52600" y="857712"/>
            <a:ext cx="8762892" cy="693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004" b="1" spc="-4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ThinkBook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16 G6 IRL</a:t>
            </a:r>
          </a:p>
          <a:p>
            <a:pPr>
              <a:lnSpc>
                <a:spcPts val="2805"/>
              </a:lnSpc>
            </a:pP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</a:t>
            </a: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</a:rPr>
              <a:t>RI2511231</a:t>
            </a:r>
            <a:endParaRPr lang="fr-FR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75605" y="5390231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507 050 FCFA HT</a:t>
            </a:r>
          </a:p>
        </p:txBody>
      </p:sp>
      <p:sp>
        <p:nvSpPr>
          <p:cNvPr id="4" name="Rectangle 3"/>
          <p:cNvSpPr/>
          <p:nvPr/>
        </p:nvSpPr>
        <p:spPr>
          <a:xfrm>
            <a:off x="8348977" y="2499479"/>
            <a:ext cx="384302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FREE DOS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Intel</a:t>
            </a:r>
            <a:r>
              <a:rPr lang="en-US" baseline="30000" dirty="0">
                <a:solidFill>
                  <a:srgbClr val="4C5771"/>
                </a:solidFill>
                <a:latin typeface="-apple-system"/>
              </a:rPr>
              <a:t>®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 Core™ i7-13700H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DDR5</a:t>
            </a: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Ecran</a:t>
            </a: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16’’ FHD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SSD M.2 2242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 Gen4 TLC </a:t>
            </a:r>
          </a:p>
          <a:p>
            <a:endParaRPr lang="en-US" dirty="0">
              <a:solidFill>
                <a:srgbClr val="4C5771"/>
              </a:solidFill>
              <a:latin typeface="-apple-system"/>
            </a:endParaRPr>
          </a:p>
        </p:txBody>
      </p:sp>
      <p:pic>
        <p:nvPicPr>
          <p:cNvPr id="2050" name="Picture 2" descr="Front-facing Lenovo ThinkBook 16 Gen 6 laptop, open 90 degrees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09" y="1331041"/>
            <a:ext cx="5184190" cy="518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65" y="748248"/>
            <a:ext cx="1408135" cy="4932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53200" y="5599142"/>
            <a:ext cx="16284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598 319 FCFA TTC</a:t>
            </a:r>
          </a:p>
        </p:txBody>
      </p:sp>
      <p:sp>
        <p:nvSpPr>
          <p:cNvPr id="12" name="TextBox 20"/>
          <p:cNvSpPr txBox="1"/>
          <p:nvPr/>
        </p:nvSpPr>
        <p:spPr>
          <a:xfrm>
            <a:off x="8500474" y="5390231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381578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/>
        </p:blipFill>
        <p:spPr>
          <a:xfrm>
            <a:off x="0" y="1110499"/>
            <a:ext cx="6966062" cy="5340639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52708" y="857712"/>
            <a:ext cx="876289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004" b="1" spc="-4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ThinkBook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14 G7  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</a:rPr>
              <a:t>RI2511232</a:t>
            </a:r>
            <a:endParaRPr lang="fr-FR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877290" y="3400134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521 965 FCFA HT </a:t>
            </a:r>
          </a:p>
        </p:txBody>
      </p:sp>
      <p:sp>
        <p:nvSpPr>
          <p:cNvPr id="4" name="Rectangle 3"/>
          <p:cNvSpPr/>
          <p:nvPr/>
        </p:nvSpPr>
        <p:spPr>
          <a:xfrm>
            <a:off x="8348977" y="2243078"/>
            <a:ext cx="384302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FREE DOS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Intel</a:t>
            </a:r>
            <a:r>
              <a:rPr lang="en-US" baseline="30000" dirty="0">
                <a:solidFill>
                  <a:srgbClr val="4C5771"/>
                </a:solidFill>
                <a:latin typeface="-apple-system"/>
              </a:rPr>
              <a:t>®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 Core™ U5-125U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DDR5</a:t>
            </a: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Ecran</a:t>
            </a: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14’’ FHD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512 SSD</a:t>
            </a:r>
            <a:r>
              <a:rPr lang="en-US" dirty="0"/>
              <a:t>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M.2 2242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 Gen4 TLC 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00" y="748248"/>
            <a:ext cx="1408135" cy="4932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15488" y="3749239"/>
            <a:ext cx="17038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615 919 FCFA TTC </a:t>
            </a:r>
          </a:p>
        </p:txBody>
      </p:sp>
      <p:sp>
        <p:nvSpPr>
          <p:cNvPr id="12" name="TextBox 20"/>
          <p:cNvSpPr txBox="1"/>
          <p:nvPr/>
        </p:nvSpPr>
        <p:spPr>
          <a:xfrm>
            <a:off x="8458200" y="5105400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1100135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52600" y="857712"/>
            <a:ext cx="8762892" cy="673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pl-PL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004" b="1" spc="-4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ThinkBook</a:t>
            </a:r>
            <a:r>
              <a:rPr lang="en-US" sz="2400" dirty="0"/>
              <a:t>  </a:t>
            </a:r>
            <a:r>
              <a:rPr lang="en-US" sz="2004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16 WUXGA U5-125U </a:t>
            </a:r>
          </a:p>
          <a:p>
            <a:pPr>
              <a:lnSpc>
                <a:spcPts val="2805"/>
              </a:lnSpc>
            </a:pPr>
            <a:r>
              <a:rPr lang="en-US" sz="1400" b="1" spc="-4" dirty="0">
                <a:solidFill>
                  <a:schemeClr val="accent6">
                    <a:lumMod val="75000"/>
                  </a:schemeClr>
                </a:solidFill>
                <a:latin typeface="IBM Plex Sans Condensed Bold"/>
                <a:ea typeface="IBM Plex Sans Condensed Bold"/>
                <a:cs typeface="IBM Plex Sans Condensed Bold"/>
              </a:rPr>
              <a:t>RI2512383</a:t>
            </a:r>
            <a:endParaRPr lang="fr-FR" sz="1400" b="1" spc="-4" dirty="0">
              <a:solidFill>
                <a:schemeClr val="accent6">
                  <a:lumMod val="75000"/>
                </a:schemeClr>
              </a:solidFill>
              <a:latin typeface="IBM Plex Sans Condensed Bold"/>
              <a:ea typeface="IBM Plex Sans Condensed Bold"/>
              <a:cs typeface="IBM Plex Sans Condense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75605" y="5390231"/>
            <a:ext cx="292207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 530 496 FCFA HT</a:t>
            </a:r>
          </a:p>
        </p:txBody>
      </p:sp>
      <p:sp>
        <p:nvSpPr>
          <p:cNvPr id="4" name="Rectangle 3"/>
          <p:cNvSpPr/>
          <p:nvPr/>
        </p:nvSpPr>
        <p:spPr>
          <a:xfrm>
            <a:off x="8348977" y="2438400"/>
            <a:ext cx="384302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FREE DOS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Intel</a:t>
            </a:r>
            <a:r>
              <a:rPr lang="en-US" baseline="30000" dirty="0">
                <a:solidFill>
                  <a:srgbClr val="4C5771"/>
                </a:solidFill>
                <a:latin typeface="-apple-system"/>
              </a:rPr>
              <a:t>®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 Core™ U5-125U 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DDR5</a:t>
            </a:r>
          </a:p>
          <a:p>
            <a:r>
              <a:rPr lang="fr-FR" b="1" dirty="0">
                <a:solidFill>
                  <a:srgbClr val="4C5771"/>
                </a:solidFill>
                <a:latin typeface="-apple-system"/>
              </a:rPr>
              <a:t>Ecran</a:t>
            </a: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16’’ 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WUXGA</a:t>
            </a:r>
            <a:r>
              <a:rPr lang="en-US" b="1" spc="-4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</a:rPr>
              <a:t> 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256Go SSD M.2 2242 </a:t>
            </a:r>
            <a:r>
              <a:rPr lang="en-US" dirty="0" err="1">
                <a:solidFill>
                  <a:srgbClr val="4C5771"/>
                </a:solidFill>
                <a:latin typeface="-apple-system"/>
              </a:rPr>
              <a:t>PCIe</a:t>
            </a:r>
            <a:r>
              <a:rPr lang="en-US" dirty="0">
                <a:solidFill>
                  <a:srgbClr val="4C5771"/>
                </a:solidFill>
                <a:latin typeface="-apple-system"/>
              </a:rPr>
              <a:t> Gen4 TLC </a:t>
            </a:r>
          </a:p>
          <a:p>
            <a:endParaRPr lang="en-US" dirty="0">
              <a:solidFill>
                <a:srgbClr val="4C5771"/>
              </a:solidFill>
              <a:latin typeface="-apple-system"/>
            </a:endParaRPr>
          </a:p>
        </p:txBody>
      </p:sp>
      <p:pic>
        <p:nvPicPr>
          <p:cNvPr id="2050" name="Picture 2" descr="Front-facing Lenovo ThinkBook 16 Gen 6 laptop, open 90 degrees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09" y="1369010"/>
            <a:ext cx="5184190" cy="518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65" y="748248"/>
            <a:ext cx="1408135" cy="4932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45987" y="5599142"/>
            <a:ext cx="16428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625 985 FCFA TTC</a:t>
            </a:r>
          </a:p>
        </p:txBody>
      </p:sp>
      <p:sp>
        <p:nvSpPr>
          <p:cNvPr id="12" name="TextBox 20"/>
          <p:cNvSpPr txBox="1"/>
          <p:nvPr/>
        </p:nvSpPr>
        <p:spPr>
          <a:xfrm>
            <a:off x="8500474" y="5390231"/>
            <a:ext cx="384392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en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STOCK FRANCE </a:t>
            </a:r>
          </a:p>
          <a:p>
            <a:pPr>
              <a:lnSpc>
                <a:spcPts val="3241"/>
              </a:lnSpc>
            </a:pPr>
            <a:r>
              <a:rPr lang="fr-FR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Délai de livraison: 20 jours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1543926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84318" y="717804"/>
            <a:ext cx="4570514" cy="584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IDEAPAD 3 14ITL6   </a:t>
            </a:r>
          </a:p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                            RI2511294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70071" y="4913489"/>
            <a:ext cx="275012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</a:rPr>
              <a:t>625 214 FCFA HT </a:t>
            </a:r>
            <a:endParaRPr lang="aa-ET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0838">
            <a:off x="872148" y="1503457"/>
            <a:ext cx="4889412" cy="537158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65" y="615182"/>
            <a:ext cx="1408135" cy="49326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571081" y="2433538"/>
            <a:ext cx="3843023" cy="3129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Windows 11 FAM 21H2 64 BITS</a:t>
            </a:r>
          </a:p>
          <a:p>
            <a:r>
              <a:rPr lang="en-US" spc="-3" dirty="0">
                <a:solidFill>
                  <a:srgbClr val="00206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Intel Core i3 11è Gen 3.0GHz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14" FHD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250Go SSD</a:t>
            </a:r>
          </a:p>
        </p:txBody>
      </p:sp>
      <p:sp>
        <p:nvSpPr>
          <p:cNvPr id="21" name="TextBox 28"/>
          <p:cNvSpPr txBox="1"/>
          <p:nvPr/>
        </p:nvSpPr>
        <p:spPr>
          <a:xfrm>
            <a:off x="8686800" y="5562600"/>
            <a:ext cx="3694472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STOCK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au 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BENIN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618030" y="5238690"/>
            <a:ext cx="16877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737 753 FCFA TTC </a:t>
            </a:r>
          </a:p>
        </p:txBody>
      </p:sp>
      <p:sp>
        <p:nvSpPr>
          <p:cNvPr id="11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10179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novo IdeaPad 3 15ALC6 Ordinateur Portable Ultraslim 15.6'' Full HD Gris  Arctique (AMD Ryzen 5, RAM 8Go, SSD 256Go, AMD Radeon Graphics, Windows 10)  - Clavier AZERTY (français) : Amazon.fr: Informatiq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21" y="1999938"/>
            <a:ext cx="6731264" cy="450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362200" y="717804"/>
            <a:ext cx="4570514" cy="8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LENOVO IP 3 I5ALC6</a:t>
            </a:r>
          </a:p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RI2511354</a:t>
            </a:r>
          </a:p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                          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96000" y="3526235"/>
            <a:ext cx="275012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</a:rPr>
              <a:t>635 000 FCFA HT </a:t>
            </a:r>
            <a:endParaRPr lang="aa-ET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65" y="615182"/>
            <a:ext cx="1408135" cy="49326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571081" y="1828800"/>
            <a:ext cx="3843023" cy="3672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Système</a:t>
            </a:r>
            <a:r>
              <a:rPr lang="en-US" b="1" dirty="0">
                <a:solidFill>
                  <a:srgbClr val="4C5771"/>
                </a:solidFill>
                <a:latin typeface="-apple-system"/>
              </a:rPr>
              <a:t> </a:t>
            </a:r>
            <a:r>
              <a:rPr lang="en-US" b="1" dirty="0" err="1">
                <a:solidFill>
                  <a:srgbClr val="4C5771"/>
                </a:solidFill>
                <a:latin typeface="-apple-system"/>
              </a:rPr>
              <a:t>d’exploitation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Windows 11 FAM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Processeur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</a:rPr>
              <a:t>AMD Ryzen 5(5500U)2.1GHz,6</a:t>
            </a:r>
          </a:p>
          <a:p>
            <a:pPr>
              <a:lnSpc>
                <a:spcPts val="3240"/>
              </a:lnSpc>
            </a:pPr>
            <a:r>
              <a:rPr lang="en-US" dirty="0" err="1">
                <a:solidFill>
                  <a:srgbClr val="4C5771"/>
                </a:solidFill>
                <a:latin typeface="-apple-system"/>
              </a:rPr>
              <a:t>Cœurs</a:t>
            </a:r>
            <a:endParaRPr lang="en-US" dirty="0">
              <a:solidFill>
                <a:srgbClr val="4C5771"/>
              </a:solidFill>
              <a:latin typeface="-apple-system"/>
            </a:endParaRPr>
          </a:p>
          <a:p>
            <a:pPr>
              <a:lnSpc>
                <a:spcPts val="3240"/>
              </a:lnSpc>
            </a:pPr>
            <a:r>
              <a:rPr lang="en-US" b="1" dirty="0" err="1">
                <a:solidFill>
                  <a:srgbClr val="4C5771"/>
                </a:solidFill>
                <a:latin typeface="-apple-system"/>
                <a:sym typeface="IBM Plex Sans Condensed"/>
              </a:rPr>
              <a:t>Ecran</a:t>
            </a:r>
            <a:r>
              <a:rPr lang="en-US" b="1" dirty="0">
                <a:solidFill>
                  <a:srgbClr val="4C5771"/>
                </a:solidFill>
                <a:latin typeface="-apple-system"/>
                <a:sym typeface="IBM Plex Sans Condensed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dirty="0">
                <a:solidFill>
                  <a:srgbClr val="4C5771"/>
                </a:solidFill>
                <a:latin typeface="-apple-system"/>
                <a:sym typeface="IBM Plex Sans Condensed"/>
              </a:rPr>
              <a:t>15" FHD(1920x1080)</a:t>
            </a:r>
          </a:p>
          <a:p>
            <a:r>
              <a:rPr lang="en-US" b="1" dirty="0">
                <a:solidFill>
                  <a:srgbClr val="4C5771"/>
                </a:solidFill>
                <a:latin typeface="-apple-system"/>
              </a:rPr>
              <a:t>RAM</a:t>
            </a:r>
          </a:p>
          <a:p>
            <a:r>
              <a:rPr lang="en-US" dirty="0">
                <a:solidFill>
                  <a:srgbClr val="4C5771"/>
                </a:solidFill>
                <a:latin typeface="-apple-system"/>
              </a:rPr>
              <a:t>8 Go DDR4</a:t>
            </a:r>
          </a:p>
          <a:p>
            <a:r>
              <a:rPr lang="en-US" b="1" dirty="0" err="1">
                <a:solidFill>
                  <a:srgbClr val="4C5771"/>
                </a:solidFill>
                <a:latin typeface="-apple-system"/>
              </a:rPr>
              <a:t>Stockage</a:t>
            </a:r>
            <a:endParaRPr lang="en-US" b="1" dirty="0">
              <a:solidFill>
                <a:srgbClr val="4C5771"/>
              </a:solidFill>
              <a:latin typeface="-apple-system"/>
            </a:endParaRPr>
          </a:p>
          <a:p>
            <a:r>
              <a:rPr lang="fr-FR" dirty="0">
                <a:solidFill>
                  <a:srgbClr val="4C5771"/>
                </a:solidFill>
                <a:latin typeface="-apple-system"/>
              </a:rPr>
              <a:t>256Go SSD</a:t>
            </a:r>
          </a:p>
        </p:txBody>
      </p:sp>
      <p:sp>
        <p:nvSpPr>
          <p:cNvPr id="21" name="TextBox 28"/>
          <p:cNvSpPr txBox="1"/>
          <p:nvPr/>
        </p:nvSpPr>
        <p:spPr>
          <a:xfrm>
            <a:off x="8649928" y="5410200"/>
            <a:ext cx="3694472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1"/>
              </a:lnSpc>
            </a:pP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Norme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CE &amp;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Garantie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: 12 </a:t>
            </a:r>
            <a:r>
              <a:rPr lang="en-US" sz="1800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Mois</a:t>
            </a:r>
            <a:r>
              <a:rPr lang="en-US" sz="1800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 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STOCK </a:t>
            </a:r>
            <a:r>
              <a:rPr lang="en-US" b="1" spc="-3" dirty="0" err="1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disponible</a:t>
            </a:r>
            <a:r>
              <a:rPr lang="en-US" b="1" spc="-3" dirty="0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au TOGO</a:t>
            </a:r>
            <a:endParaRPr lang="en-US" sz="1800" b="1" spc="-3" dirty="0">
              <a:solidFill>
                <a:srgbClr val="002060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43959" y="3851436"/>
            <a:ext cx="16877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Garamond Bold"/>
                <a:ea typeface="Garamond Bold"/>
                <a:cs typeface="Garamond Bold"/>
                <a:sym typeface="Garamond Bold"/>
              </a:rPr>
              <a:t>749 300 FCFA TTC </a:t>
            </a:r>
          </a:p>
        </p:txBody>
      </p:sp>
      <p:sp>
        <p:nvSpPr>
          <p:cNvPr id="11" name="Freeform 3"/>
          <p:cNvSpPr/>
          <p:nvPr/>
        </p:nvSpPr>
        <p:spPr>
          <a:xfrm>
            <a:off x="9723120" y="717804"/>
            <a:ext cx="2031492" cy="717804"/>
          </a:xfrm>
          <a:custGeom>
            <a:avLst/>
            <a:gdLst/>
            <a:ahLst/>
            <a:cxnLst/>
            <a:rect l="l" t="t" r="r" b="b"/>
            <a:pathLst>
              <a:path w="2031492" h="717804">
                <a:moveTo>
                  <a:pt x="0" y="0"/>
                </a:moveTo>
                <a:lnTo>
                  <a:pt x="2031492" y="0"/>
                </a:lnTo>
                <a:lnTo>
                  <a:pt x="2031492" y="717804"/>
                </a:lnTo>
                <a:lnTo>
                  <a:pt x="0" y="71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95387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029" y="390649"/>
            <a:ext cx="11425933" cy="224533"/>
          </a:xfrm>
          <a:custGeom>
            <a:avLst/>
            <a:gdLst/>
            <a:ahLst/>
            <a:cxnLst/>
            <a:rect l="l" t="t" r="r" b="b"/>
            <a:pathLst>
              <a:path w="11425933" h="224533">
                <a:moveTo>
                  <a:pt x="0" y="0"/>
                </a:moveTo>
                <a:lnTo>
                  <a:pt x="11425933" y="0"/>
                </a:lnTo>
                <a:lnTo>
                  <a:pt x="11425933" y="224533"/>
                </a:lnTo>
                <a:lnTo>
                  <a:pt x="0" y="22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0" y="1039368"/>
            <a:ext cx="12018264" cy="4608576"/>
          </a:xfrm>
          <a:custGeom>
            <a:avLst/>
            <a:gdLst/>
            <a:ahLst/>
            <a:cxnLst/>
            <a:rect l="l" t="t" r="r" b="b"/>
            <a:pathLst>
              <a:path w="12018264" h="4608576">
                <a:moveTo>
                  <a:pt x="0" y="0"/>
                </a:moveTo>
                <a:lnTo>
                  <a:pt x="12018264" y="0"/>
                </a:lnTo>
                <a:lnTo>
                  <a:pt x="12018264" y="4608576"/>
                </a:lnTo>
                <a:lnTo>
                  <a:pt x="0" y="460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4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634741" y="840029"/>
            <a:ext cx="3012091" cy="35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006" b="1" spc="-4">
                <a:solidFill>
                  <a:srgbClr val="00206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PARTENAIRE OFFICIEL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2526" y="5969508"/>
            <a:ext cx="6126880" cy="606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406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Tel : 00 228 93 07 87 87 / 00228 93 44 71 71 / 00229 99 56 52 52 / 00229 99 56 41 41</a:t>
            </a:r>
          </a:p>
          <a:p>
            <a:pPr algn="l">
              <a:lnSpc>
                <a:spcPts val="1439"/>
              </a:lnSpc>
            </a:pPr>
            <a:r>
              <a:rPr lang="en-US" sz="1200" b="1" dirty="0">
                <a:solidFill>
                  <a:srgbClr val="828282"/>
                </a:solidFill>
                <a:latin typeface="Garamond Bold"/>
                <a:ea typeface="Garamond Bold"/>
                <a:cs typeface="Garamond Bold"/>
                <a:sym typeface="Garamond Bold"/>
                <a:hlinkClick r:id="rId5" tooltip="mailto:sales@roots-technologies.com"/>
              </a:rPr>
              <a:t>sales@roots-technologies.com</a:t>
            </a:r>
            <a:r>
              <a:rPr lang="en-US" sz="1200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/</a:t>
            </a:r>
            <a:r>
              <a:rPr lang="en-US" sz="1200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  <a:hlinkClick r:id="rId6" tooltip="mailto:contact.benin@roots.ws"/>
              </a:rPr>
              <a:t> </a:t>
            </a:r>
            <a:r>
              <a:rPr lang="en-US" sz="1200" b="1" dirty="0">
                <a:solidFill>
                  <a:srgbClr val="828282"/>
                </a:solidFill>
                <a:latin typeface="Garamond Bold"/>
                <a:ea typeface="Garamond Bold"/>
                <a:cs typeface="Garamond Bold"/>
                <a:sym typeface="Garamond Bold"/>
                <a:hlinkClick r:id="rId6" tooltip="mailto:contact.benin@roots.ws"/>
              </a:rPr>
              <a:t>contact.benin@roots.ws </a:t>
            </a:r>
            <a:r>
              <a:rPr lang="en-US" sz="1200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Lomé –Togo / </a:t>
            </a:r>
            <a:r>
              <a:rPr lang="en-US" sz="1200" b="1" dirty="0" err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Cotonou</a:t>
            </a:r>
            <a:r>
              <a:rPr lang="en-US" sz="1200" b="1" dirty="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-Benin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30366" y="6056824"/>
            <a:ext cx="3956028" cy="31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spc="-3">
                <a:solidFill>
                  <a:srgbClr val="7030A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https://roots-technologies.odoo.com/shop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14470</TotalTime>
  <Words>2125</Words>
  <Application>Microsoft Office PowerPoint</Application>
  <PresentationFormat>Grand écran</PresentationFormat>
  <Paragraphs>567</Paragraphs>
  <Slides>35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3" baseType="lpstr">
      <vt:lpstr>Garamond Bold</vt:lpstr>
      <vt:lpstr>Arial</vt:lpstr>
      <vt:lpstr>Calibri</vt:lpstr>
      <vt:lpstr>IBM Plex Sans Condensed Bold</vt:lpstr>
      <vt:lpstr>Garamond</vt:lpstr>
      <vt:lpstr>IBM Plex Sans Condensed</vt:lpstr>
      <vt:lpstr>-apple-system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ROOTS Catalogue Matériel Informatique_Decembre_2022_Rev2 (1).pdf</dc:title>
  <dc:creator>HP</dc:creator>
  <cp:lastModifiedBy>COMLAN HOFFER</cp:lastModifiedBy>
  <cp:revision>196</cp:revision>
  <cp:lastPrinted>2024-12-02T17:11:13Z</cp:lastPrinted>
  <dcterms:created xsi:type="dcterms:W3CDTF">2006-08-16T00:00:00Z</dcterms:created>
  <dcterms:modified xsi:type="dcterms:W3CDTF">2025-04-14T11:55:16Z</dcterms:modified>
  <dc:identifier>DAGXN5lQ4KM</dc:identifier>
</cp:coreProperties>
</file>